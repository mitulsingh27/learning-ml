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jm6e8FnXk90IBF9P+VojnTmrB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A2FD60-33CA-4DB5-B31F-3C4DA91ABEAC}">
  <a:tblStyle styleId="{89A2FD60-33CA-4DB5-B31F-3C4DA91ABEA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EF3"/>
          </a:solidFill>
        </a:fill>
      </a:tcStyle>
    </a:wholeTbl>
    <a:band1H>
      <a:tcTxStyle/>
      <a:tcStyle>
        <a:fill>
          <a:solidFill>
            <a:srgbClr val="CCDCE6"/>
          </a:solidFill>
        </a:fill>
      </a:tcStyle>
    </a:band1H>
    <a:band2H>
      <a:tcTxStyle/>
    </a:band2H>
    <a:band1V>
      <a:tcTxStyle/>
      <a:tcStyle>
        <a:fill>
          <a:solidFill>
            <a:srgbClr val="CCDCE6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1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2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7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7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3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3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3"/>
          <p:cNvSpPr txBox="1"/>
          <p:nvPr>
            <p:ph type="ctrTitle"/>
          </p:nvPr>
        </p:nvSpPr>
        <p:spPr>
          <a:xfrm>
            <a:off x="1645920" y="1138428"/>
            <a:ext cx="15087600" cy="5349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0"/>
              <a:buFont typeface="Calibri"/>
              <a:buNone/>
              <a:defRPr sz="12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1" type="subTitle"/>
          </p:nvPr>
        </p:nvSpPr>
        <p:spPr>
          <a:xfrm>
            <a:off x="1650077" y="6683430"/>
            <a:ext cx="15087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 sz="36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" name="Google Shape;41;p33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4" name="Google Shape;44;p33"/>
          <p:cNvCxnSpPr/>
          <p:nvPr/>
        </p:nvCxnSpPr>
        <p:spPr>
          <a:xfrm>
            <a:off x="1811487" y="6515100"/>
            <a:ext cx="1481328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4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4"/>
          <p:cNvSpPr txBox="1"/>
          <p:nvPr>
            <p:ph type="title"/>
          </p:nvPr>
        </p:nvSpPr>
        <p:spPr>
          <a:xfrm>
            <a:off x="1645920" y="1138428"/>
            <a:ext cx="15087600" cy="5349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0"/>
              <a:buFont typeface="Calibri"/>
              <a:buNone/>
              <a:defRPr b="0" sz="12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" type="body"/>
          </p:nvPr>
        </p:nvSpPr>
        <p:spPr>
          <a:xfrm>
            <a:off x="1645920" y="6679692"/>
            <a:ext cx="15087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 sz="36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70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34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53" name="Google Shape;53;p34"/>
          <p:cNvCxnSpPr/>
          <p:nvPr/>
        </p:nvCxnSpPr>
        <p:spPr>
          <a:xfrm>
            <a:off x="1811487" y="6515100"/>
            <a:ext cx="1481328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1645919" y="2768601"/>
            <a:ext cx="740664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9326880" y="2768603"/>
            <a:ext cx="740664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" type="body"/>
          </p:nvPr>
        </p:nvSpPr>
        <p:spPr>
          <a:xfrm>
            <a:off x="1645920" y="2769078"/>
            <a:ext cx="7406640" cy="1104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 b="0" sz="3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64" name="Google Shape;64;p36"/>
          <p:cNvSpPr txBox="1"/>
          <p:nvPr>
            <p:ph idx="2" type="body"/>
          </p:nvPr>
        </p:nvSpPr>
        <p:spPr>
          <a:xfrm>
            <a:off x="1645920" y="3873501"/>
            <a:ext cx="740664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5" name="Google Shape;65;p36"/>
          <p:cNvSpPr txBox="1"/>
          <p:nvPr>
            <p:ph idx="3" type="body"/>
          </p:nvPr>
        </p:nvSpPr>
        <p:spPr>
          <a:xfrm>
            <a:off x="9326880" y="2769078"/>
            <a:ext cx="7406640" cy="1104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 b="0" sz="3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66" name="Google Shape;66;p36"/>
          <p:cNvSpPr txBox="1"/>
          <p:nvPr>
            <p:ph idx="4" type="body"/>
          </p:nvPr>
        </p:nvSpPr>
        <p:spPr>
          <a:xfrm>
            <a:off x="9326880" y="3873501"/>
            <a:ext cx="740664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8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8"/>
          <p:cNvSpPr txBox="1"/>
          <p:nvPr>
            <p:ph type="title"/>
          </p:nvPr>
        </p:nvSpPr>
        <p:spPr>
          <a:xfrm>
            <a:off x="685800" y="891538"/>
            <a:ext cx="4800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b="0" sz="5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>
            <a:off x="7200900" y="1097280"/>
            <a:ext cx="973836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2" type="body"/>
          </p:nvPr>
        </p:nvSpPr>
        <p:spPr>
          <a:xfrm>
            <a:off x="685800" y="4389120"/>
            <a:ext cx="4800600" cy="5068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250"/>
              <a:buNone/>
              <a:defRPr sz="225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350"/>
              <a:buNone/>
              <a:defRPr sz="1350"/>
            </a:lvl9pPr>
          </a:lstStyle>
          <a:p/>
        </p:txBody>
      </p:sp>
      <p:sp>
        <p:nvSpPr>
          <p:cNvPr id="76" name="Google Shape;76;p38"/>
          <p:cNvSpPr txBox="1"/>
          <p:nvPr>
            <p:ph idx="10" type="dt"/>
          </p:nvPr>
        </p:nvSpPr>
        <p:spPr>
          <a:xfrm>
            <a:off x="698268" y="9689678"/>
            <a:ext cx="3927765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1" type="ftr"/>
          </p:nvPr>
        </p:nvSpPr>
        <p:spPr>
          <a:xfrm>
            <a:off x="7200900" y="9689678"/>
            <a:ext cx="6972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9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9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9"/>
          <p:cNvSpPr txBox="1"/>
          <p:nvPr>
            <p:ph type="title"/>
          </p:nvPr>
        </p:nvSpPr>
        <p:spPr>
          <a:xfrm>
            <a:off x="1645920" y="7612380"/>
            <a:ext cx="151698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b="0" sz="5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/>
          <p:nvPr>
            <p:ph idx="2" type="pic"/>
          </p:nvPr>
        </p:nvSpPr>
        <p:spPr>
          <a:xfrm>
            <a:off x="23" y="0"/>
            <a:ext cx="18287978" cy="7372614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9"/>
          <p:cNvSpPr txBox="1"/>
          <p:nvPr>
            <p:ph idx="1" type="body"/>
          </p:nvPr>
        </p:nvSpPr>
        <p:spPr>
          <a:xfrm>
            <a:off x="1645920" y="8860535"/>
            <a:ext cx="15169896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  <a:defRPr sz="225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350"/>
              <a:buNone/>
              <a:defRPr sz="1350"/>
            </a:lvl9pPr>
          </a:lstStyle>
          <a:p/>
        </p:txBody>
      </p:sp>
      <p:sp>
        <p:nvSpPr>
          <p:cNvPr id="85" name="Google Shape;85;p39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9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0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0"/>
          <p:cNvSpPr txBox="1"/>
          <p:nvPr>
            <p:ph idx="1" type="body"/>
          </p:nvPr>
        </p:nvSpPr>
        <p:spPr>
          <a:xfrm rot="5400000">
            <a:off x="6172200" y="-1757679"/>
            <a:ext cx="6035040" cy="150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0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0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1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1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1"/>
          <p:cNvSpPr txBox="1"/>
          <p:nvPr>
            <p:ph type="title"/>
          </p:nvPr>
        </p:nvSpPr>
        <p:spPr>
          <a:xfrm rot="5400000">
            <a:off x="10740959" y="2968559"/>
            <a:ext cx="8636132" cy="3943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1" type="body"/>
          </p:nvPr>
        </p:nvSpPr>
        <p:spPr>
          <a:xfrm rot="5400000">
            <a:off x="2739959" y="-860492"/>
            <a:ext cx="8636133" cy="1160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9" name="Google Shape;99;p41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1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0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0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  <a:defRPr b="0" i="0" sz="7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0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Char char=" "/>
              <a:defRPr b="0" i="0" sz="3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Char char="◦"/>
              <a:defRPr b="0" i="0" sz="27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0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0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7" name="Google Shape;17;p30"/>
          <p:cNvCxnSpPr/>
          <p:nvPr/>
        </p:nvCxnSpPr>
        <p:spPr>
          <a:xfrm>
            <a:off x="1790298" y="2606768"/>
            <a:ext cx="14950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3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5517929" y="229056"/>
            <a:ext cx="2438400" cy="11715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32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22.png"/><Relationship Id="rId5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/>
          <p:nvPr/>
        </p:nvSpPr>
        <p:spPr>
          <a:xfrm>
            <a:off x="316662" y="585302"/>
            <a:ext cx="3136227" cy="886795"/>
          </a:xfrm>
          <a:custGeom>
            <a:rect b="b" l="l" r="r" t="t"/>
            <a:pathLst>
              <a:path extrusionOk="0" h="886795" w="3136227">
                <a:moveTo>
                  <a:pt x="0" y="0"/>
                </a:moveTo>
                <a:lnTo>
                  <a:pt x="3136228" y="0"/>
                </a:lnTo>
                <a:lnTo>
                  <a:pt x="3136228" y="886796"/>
                </a:lnTo>
                <a:lnTo>
                  <a:pt x="0" y="8867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sx="99000" rotWithShape="0" algn="ctr" dir="4800000" dist="50800" sy="99000">
              <a:srgbClr val="000000"/>
            </a:outerShdw>
          </a:effectLst>
        </p:spPr>
      </p:sp>
      <p:pic>
        <p:nvPicPr>
          <p:cNvPr id="107" name="Google Shape;10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9880" y="190501"/>
            <a:ext cx="3491457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3/13/2024</a:t>
            </a:r>
            <a:endParaRPr/>
          </a:p>
        </p:txBody>
      </p:sp>
      <p:sp>
        <p:nvSpPr>
          <p:cNvPr id="109" name="Google Shape;109;p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0" name="Google Shape;110;p1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     </a:t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2362200" y="1472096"/>
            <a:ext cx="12581729" cy="14086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mbria"/>
              <a:buNone/>
            </a:pPr>
            <a:r>
              <a:rPr b="1" i="0" lang="en-IN" sz="54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OBJECT ORIENTED PROGRAMMING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mbria"/>
              <a:buNone/>
            </a:pPr>
            <a:r>
              <a:rPr b="1" i="0" lang="en-IN" sz="54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(23EN1202)</a:t>
            </a:r>
            <a:endParaRPr b="1" i="0" sz="5400" u="none" cap="none" strike="noStrike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1645921" y="2917062"/>
            <a:ext cx="14889479" cy="18454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mbria"/>
              <a:buNone/>
            </a:pPr>
            <a:r>
              <a:rPr b="1" i="0" lang="en-IN" sz="5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UNIT-2: </a:t>
            </a:r>
            <a:r>
              <a:rPr b="1" i="0" lang="en-IN" sz="5400" u="none" cap="none" strike="noStrike">
                <a:solidFill>
                  <a:srgbClr val="265F65"/>
                </a:solidFill>
                <a:latin typeface="Cambria"/>
                <a:ea typeface="Cambria"/>
                <a:cs typeface="Cambria"/>
                <a:sym typeface="Cambria"/>
              </a:rPr>
              <a:t>INTRODUCTION TO OOP AND PYTHON</a:t>
            </a:r>
            <a:endParaRPr b="1" i="0" sz="5400" u="none" cap="none" strike="noStrike">
              <a:solidFill>
                <a:srgbClr val="265F6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6896100" y="5737965"/>
            <a:ext cx="109415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1" i="1" lang="en-IN" sz="4900" u="none" cap="none" strike="noStrike">
                <a:solidFill>
                  <a:srgbClr val="3F3F3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STRINGS </a:t>
            </a:r>
            <a:endParaRPr b="1" i="1" sz="4900" u="none" cap="none" strike="noStrike">
              <a:solidFill>
                <a:srgbClr val="3F3F3F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119" name="Google Shape;119;p2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0" name="Google Shape;120;p2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121" name="Google Shape;121;p2"/>
          <p:cNvSpPr txBox="1"/>
          <p:nvPr/>
        </p:nvSpPr>
        <p:spPr>
          <a:xfrm>
            <a:off x="1828800" y="3009900"/>
            <a:ext cx="14782800" cy="5293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FUNCTIONS AND MODULES: 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IN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Need for functions, Function definition, Function call, Scope, Return statement, Lambda functions, Recursive functions, Modules.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1" lang="en-IN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(Chapter 5: 5.1 to 5.11) 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PYTHON STRINGS: 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IN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String operations, Immutable, string formatting operator, built-in string methods, string slices, membership operator, comparing strings, Iterating strings.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1" lang="en-IN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(Chapter 6: 6.1 to 6.9</a:t>
            </a:r>
            <a:r>
              <a:rPr b="0" i="0" lang="en-IN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3905250" y="1427262"/>
            <a:ext cx="10210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 – II 	</a:t>
            </a:r>
            <a:r>
              <a:rPr b="0" i="0" lang="en-IN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IN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 Hours 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type="title"/>
          </p:nvPr>
        </p:nvSpPr>
        <p:spPr>
          <a:xfrm>
            <a:off x="1279151" y="1009649"/>
            <a:ext cx="16459200" cy="1492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600"/>
              <a:buFont typeface="Calibri"/>
              <a:buNone/>
            </a:pPr>
            <a:r>
              <a:rPr b="1" lang="en-IN" sz="6600">
                <a:latin typeface="Calibri"/>
                <a:ea typeface="Calibri"/>
                <a:cs typeface="Calibri"/>
                <a:sym typeface="Calibri"/>
              </a:rPr>
              <a:t>						Unit-2</a:t>
            </a:r>
            <a:br>
              <a:rPr b="1" lang="en-IN" sz="6600">
                <a:latin typeface="Calibri"/>
                <a:ea typeface="Calibri"/>
                <a:cs typeface="Calibri"/>
                <a:sym typeface="Calibri"/>
              </a:rPr>
            </a:br>
            <a:r>
              <a:rPr b="1" lang="en-IN" sz="6600"/>
              <a:t>					</a:t>
            </a:r>
            <a:r>
              <a:rPr b="1" lang="en-IN" sz="6600">
                <a:latin typeface="Calibri"/>
                <a:ea typeface="Calibri"/>
                <a:cs typeface="Calibri"/>
                <a:sym typeface="Calibri"/>
              </a:rPr>
              <a:t>Python Strings</a:t>
            </a:r>
            <a:endParaRPr b="1" sz="6600" u="sng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>
            <p:ph idx="1" type="body"/>
          </p:nvPr>
        </p:nvSpPr>
        <p:spPr>
          <a:xfrm>
            <a:off x="861646" y="2705100"/>
            <a:ext cx="16535400" cy="6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286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Python string datatype is a sequence made up of one or more individual characters where characters are letters, digits, whitespaces or any other symbol.</a:t>
            </a:r>
            <a:endParaRPr/>
          </a:p>
          <a:p>
            <a:pPr indent="-2286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Python treats strings as contiguous series of characters delimited by single,double or triple quotes.</a:t>
            </a:r>
            <a:endParaRPr/>
          </a:p>
          <a:p>
            <a:pPr indent="-2286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Python has built in  string class “str”.</a:t>
            </a:r>
            <a:endParaRPr/>
          </a:p>
          <a:p>
            <a:pPr indent="-2286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We  can declare a string in several ways</a:t>
            </a:r>
            <a:endParaRPr/>
          </a:p>
          <a:p>
            <a:pPr indent="-2286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Eg: 	name=“India”</a:t>
            </a:r>
            <a:endParaRPr/>
          </a:p>
          <a:p>
            <a:pPr indent="0" lvl="8" marL="1150968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600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	Country= name</a:t>
            </a:r>
            <a:endParaRPr/>
          </a:p>
          <a:p>
            <a:pPr indent="0" lvl="8" marL="1150968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600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	graduate=‘N’</a:t>
            </a:r>
            <a:endParaRPr/>
          </a:p>
          <a:p>
            <a:pPr indent="0" lvl="8" marL="1150968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600"/>
              <a:buNone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	nationality=str(“Indian”)</a:t>
            </a:r>
            <a:endParaRPr sz="3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3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130" name="Google Shape;130;p3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1" name="Google Shape;131;p3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type="title"/>
          </p:nvPr>
        </p:nvSpPr>
        <p:spPr>
          <a:xfrm>
            <a:off x="359526" y="623455"/>
            <a:ext cx="15109074" cy="17006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600"/>
              <a:buNone/>
            </a:pPr>
            <a:r>
              <a:rPr b="1" lang="en-IN" sz="8600"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lang="en-IN"/>
              <a:t>Introduction</a:t>
            </a:r>
            <a:endParaRPr b="1"/>
          </a:p>
        </p:txBody>
      </p:sp>
      <p:sp>
        <p:nvSpPr>
          <p:cNvPr id="137" name="Google Shape;137;p4"/>
          <p:cNvSpPr txBox="1"/>
          <p:nvPr>
            <p:ph idx="1" type="body"/>
          </p:nvPr>
        </p:nvSpPr>
        <p:spPr>
          <a:xfrm>
            <a:off x="861646" y="2705101"/>
            <a:ext cx="165354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IN" sz="3600">
                <a:latin typeface="Cambria"/>
                <a:ea typeface="Cambria"/>
                <a:cs typeface="Cambria"/>
                <a:sym typeface="Cambria"/>
              </a:rPr>
              <a:t>Indexing:</a:t>
            </a:r>
            <a:endParaRPr b="1"/>
          </a:p>
          <a:p>
            <a:pPr indent="-285750" lvl="0" marL="28575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Individual characters in a string are accessed using subscript [ ] operator.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The expression in brackets is called index.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The index specifies a member of an ordered set and here it specifies the character we want to access from given set of characters in a string.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The index of first character is 0 and last is n-1 where n is number of characters in a string.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IN" sz="3600">
                <a:latin typeface="Cambria"/>
                <a:ea typeface="Cambria"/>
                <a:cs typeface="Cambria"/>
                <a:sym typeface="Cambria"/>
              </a:rPr>
              <a:t>If you try tom exceed bounds that is below 0 and above n-1 the error occurs.</a:t>
            </a:r>
            <a:endParaRPr/>
          </a:p>
          <a:p>
            <a:pPr indent="-107950" lvl="0" marL="28575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-107950" lvl="0" marL="28575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8" name="Google Shape;138;p4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0" name="Google Shape;140;p4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>
            <p:ph type="title"/>
          </p:nvPr>
        </p:nvSpPr>
        <p:spPr>
          <a:xfrm>
            <a:off x="359526" y="623455"/>
            <a:ext cx="16194924" cy="17006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600"/>
              <a:buFont typeface="Calibri"/>
              <a:buNone/>
            </a:pPr>
            <a:r>
              <a:rPr b="1" lang="en-IN"/>
              <a:t>Traversing</a:t>
            </a:r>
            <a:endParaRPr/>
          </a:p>
        </p:txBody>
      </p:sp>
      <p:sp>
        <p:nvSpPr>
          <p:cNvPr id="146" name="Google Shape;146;p5"/>
          <p:cNvSpPr txBox="1"/>
          <p:nvPr>
            <p:ph idx="1" type="body"/>
          </p:nvPr>
        </p:nvSpPr>
        <p:spPr>
          <a:xfrm>
            <a:off x="861646" y="2705101"/>
            <a:ext cx="165354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Cambria"/>
                <a:ea typeface="Cambria"/>
                <a:cs typeface="Cambria"/>
                <a:sym typeface="Cambria"/>
              </a:rPr>
              <a:t>A string traversing is done by accessing characters from one index to another.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5"/>
          <p:cNvSpPr txBox="1"/>
          <p:nvPr>
            <p:ph idx="10" type="dt"/>
          </p:nvPr>
        </p:nvSpPr>
        <p:spPr>
          <a:xfrm>
            <a:off x="1587870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148" name="Google Shape;148;p5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9" name="Google Shape;149;p5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646" y="3422177"/>
            <a:ext cx="10077450" cy="438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25301" y="3605133"/>
            <a:ext cx="4305300" cy="3367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 txBox="1"/>
          <p:nvPr>
            <p:ph type="title"/>
          </p:nvPr>
        </p:nvSpPr>
        <p:spPr>
          <a:xfrm>
            <a:off x="359526" y="800099"/>
            <a:ext cx="16233024" cy="14859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600"/>
              <a:buNone/>
            </a:pPr>
            <a:r>
              <a:rPr b="1" lang="en-IN"/>
              <a:t>Concatenating, Appending and Multiplying String</a:t>
            </a:r>
            <a:endParaRPr b="1"/>
          </a:p>
        </p:txBody>
      </p:sp>
      <p:sp>
        <p:nvSpPr>
          <p:cNvPr id="157" name="Google Shape;157;p6"/>
          <p:cNvSpPr txBox="1"/>
          <p:nvPr>
            <p:ph idx="1" type="body"/>
          </p:nvPr>
        </p:nvSpPr>
        <p:spPr>
          <a:xfrm>
            <a:off x="952500" y="2647950"/>
            <a:ext cx="16535400" cy="668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13716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Cambria"/>
                <a:ea typeface="Cambria"/>
                <a:cs typeface="Cambria"/>
                <a:sym typeface="Cambria"/>
              </a:rPr>
              <a:t>The word concatenating means to join together.</a:t>
            </a:r>
            <a:endParaRPr/>
          </a:p>
          <a:p>
            <a:pPr indent="-1778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Cambria"/>
                <a:ea typeface="Cambria"/>
                <a:cs typeface="Cambria"/>
                <a:sym typeface="Cambria"/>
              </a:rPr>
              <a:t>In python concatenation of two strings can be done using “+” operator.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8" name="Google Shape;158;p6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159" name="Google Shape;159;p6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0" name="Google Shape;160;p6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pic>
        <p:nvPicPr>
          <p:cNvPr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1163" y="4179044"/>
            <a:ext cx="10267934" cy="2569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7372167"/>
            <a:ext cx="7039195" cy="1962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2"/>
          <p:cNvSpPr txBox="1"/>
          <p:nvPr>
            <p:ph type="title"/>
          </p:nvPr>
        </p:nvSpPr>
        <p:spPr>
          <a:xfrm>
            <a:off x="1645920" y="429905"/>
            <a:ext cx="15087600" cy="1452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en-IN">
                <a:solidFill>
                  <a:srgbClr val="271900"/>
                </a:solidFill>
                <a:latin typeface="Calibri"/>
                <a:ea typeface="Calibri"/>
                <a:cs typeface="Calibri"/>
                <a:sym typeface="Calibri"/>
              </a:rPr>
              <a:t>Appending</a:t>
            </a:r>
            <a:endParaRPr/>
          </a:p>
        </p:txBody>
      </p:sp>
      <p:sp>
        <p:nvSpPr>
          <p:cNvPr id="168" name="Google Shape;168;p42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3200">
                <a:latin typeface="Cambria"/>
                <a:ea typeface="Cambria"/>
                <a:cs typeface="Cambria"/>
                <a:sym typeface="Cambria"/>
              </a:rPr>
              <a:t>If you want to add one string at the end of another string then we will use “+=“  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9" name="Google Shape;169;p42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70" name="Google Shape;17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300" y="3848100"/>
            <a:ext cx="8801099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4299" y="7083029"/>
            <a:ext cx="8801099" cy="1883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type="title"/>
          </p:nvPr>
        </p:nvSpPr>
        <p:spPr>
          <a:xfrm>
            <a:off x="878682" y="531215"/>
            <a:ext cx="15294768" cy="14309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600"/>
              <a:buNone/>
            </a:pPr>
            <a:r>
              <a:rPr b="1" lang="en-IN">
                <a:solidFill>
                  <a:srgbClr val="271900"/>
                </a:solidFill>
                <a:latin typeface="Calibri"/>
                <a:ea typeface="Calibri"/>
                <a:cs typeface="Calibri"/>
                <a:sym typeface="Calibri"/>
              </a:rPr>
              <a:t>Multiplying String</a:t>
            </a:r>
            <a:endParaRPr/>
          </a:p>
        </p:txBody>
      </p:sp>
      <p:sp>
        <p:nvSpPr>
          <p:cNvPr id="177" name="Google Shape;177;p7"/>
          <p:cNvSpPr txBox="1"/>
          <p:nvPr>
            <p:ph idx="1" type="body"/>
          </p:nvPr>
        </p:nvSpPr>
        <p:spPr>
          <a:xfrm>
            <a:off x="878681" y="2650955"/>
            <a:ext cx="16535400" cy="7133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13716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Cambria"/>
                <a:ea typeface="Cambria"/>
                <a:cs typeface="Cambria"/>
                <a:sym typeface="Cambria"/>
              </a:rPr>
              <a:t> “*” operator can be used to repeat a string n number of times.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-1778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Cambria"/>
                <a:ea typeface="Cambria"/>
                <a:cs typeface="Cambria"/>
                <a:sym typeface="Cambria"/>
              </a:rPr>
              <a:t>The str() function is used to convert values of any other type into string type.</a:t>
            </a:r>
            <a:endParaRPr/>
          </a:p>
          <a:p>
            <a:pPr indent="-1778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Cambria"/>
                <a:ea typeface="Cambria"/>
                <a:cs typeface="Cambria"/>
                <a:sym typeface="Cambria"/>
              </a:rPr>
              <a:t>This helps the programmer to concatenate a string with any other datatype data.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8" name="Google Shape;178;p7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179" name="Google Shape;179;p7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0" name="Google Shape;180;p7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pic>
        <p:nvPicPr>
          <p:cNvPr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811" y="3390852"/>
            <a:ext cx="3941517" cy="1981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4111" y="3543159"/>
            <a:ext cx="4324714" cy="1676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0930" y="7257977"/>
            <a:ext cx="5356570" cy="2171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4288" y="7391400"/>
            <a:ext cx="4938862" cy="2026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3"/>
          <p:cNvSpPr txBox="1"/>
          <p:nvPr>
            <p:ph type="title"/>
          </p:nvPr>
        </p:nvSpPr>
        <p:spPr>
          <a:xfrm>
            <a:off x="1645920" y="429905"/>
            <a:ext cx="15087600" cy="1760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en-IN"/>
              <a:t>Contd…</a:t>
            </a:r>
            <a:endParaRPr/>
          </a:p>
        </p:txBody>
      </p:sp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13716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Print statement prints one or more literals or values in a newline. 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If you don’t want in newline then we can use “end=‘  ‘ ”.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91" name="Google Shape;191;p43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92" name="Google Shape;19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0788" y="4762500"/>
            <a:ext cx="4638836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2070" y="4762500"/>
            <a:ext cx="605068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type="title"/>
          </p:nvPr>
        </p:nvSpPr>
        <p:spPr>
          <a:xfrm>
            <a:off x="1645920" y="429905"/>
            <a:ext cx="15087600" cy="1646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</a:pPr>
            <a:r>
              <a:rPr b="1" lang="en-IN"/>
              <a:t>Immutable</a:t>
            </a:r>
            <a:endParaRPr/>
          </a:p>
        </p:txBody>
      </p:sp>
      <p:sp>
        <p:nvSpPr>
          <p:cNvPr id="199" name="Google Shape;199;p10"/>
          <p:cNvSpPr txBox="1"/>
          <p:nvPr>
            <p:ph idx="1" type="body"/>
          </p:nvPr>
        </p:nvSpPr>
        <p:spPr>
          <a:xfrm>
            <a:off x="1645920" y="2606042"/>
            <a:ext cx="15899130" cy="6804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13716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Python strings are immutable which means that once created they cannot be changed.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Whenever you try to modify an existing string variable a new string is created.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Every object in python is stored in memory.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We can check whether two object is referring to same object or not by using Id().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Id() returns memory address of that object.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08/1/2025</a:t>
            </a:r>
            <a:endParaRPr/>
          </a:p>
        </p:txBody>
      </p:sp>
      <p:sp>
        <p:nvSpPr>
          <p:cNvPr id="201" name="Google Shape;201;p10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202" name="Google Shape;202;p10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3" name="Google Shape;20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0" y="5852948"/>
            <a:ext cx="7155180" cy="355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148" y="5657735"/>
            <a:ext cx="6313372" cy="3600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 txBox="1"/>
          <p:nvPr>
            <p:ph type="title"/>
          </p:nvPr>
        </p:nvSpPr>
        <p:spPr>
          <a:xfrm>
            <a:off x="1645920" y="429905"/>
            <a:ext cx="15087600" cy="17453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</a:pPr>
            <a:r>
              <a:rPr b="1" lang="en-IN"/>
              <a:t>		String Formatting Operator</a:t>
            </a:r>
            <a:endParaRPr b="1"/>
          </a:p>
        </p:txBody>
      </p:sp>
      <p:sp>
        <p:nvSpPr>
          <p:cNvPr id="210" name="Google Shape;210;p11"/>
          <p:cNvSpPr txBox="1"/>
          <p:nvPr>
            <p:ph idx="1" type="body"/>
          </p:nvPr>
        </p:nvSpPr>
        <p:spPr>
          <a:xfrm>
            <a:off x="1485900" y="2606042"/>
            <a:ext cx="16116300" cy="6957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13716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The ‘%’ operator takes a format string on left and the corresponding values in a tuple on the right.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It allows users to construct string replacing part of string with the data stored in variables.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The syntax for string formatting operation is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The statement begins with a format string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rPr lang="en-IN"/>
              <a:t>Consisting of a sequence of character and Conversion specifications.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rPr b="1" lang="en-IN" sz="3200" u="sng"/>
              <a:t>Common Format Codes</a:t>
            </a:r>
            <a:endParaRPr b="1" sz="3200" u="sng"/>
          </a:p>
          <a:p>
            <a:pPr indent="0" lvl="0" marL="0" rtl="0" algn="just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rPr lang="en-IN"/>
              <a:t>%s → String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rPr lang="en-IN"/>
              <a:t>%d → Integer (decimal)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rPr lang="en-IN"/>
              <a:t>%f → Floating-point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rPr lang="en-IN"/>
              <a:t>%.nf → Floating-point with n decimal places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08/1/2025</a:t>
            </a:r>
            <a:endParaRPr/>
          </a:p>
        </p:txBody>
      </p:sp>
      <p:sp>
        <p:nvSpPr>
          <p:cNvPr id="212" name="Google Shape;212;p11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23EN1202-OBJECT ORIENTED PROGRAMMING USING PYTHON</a:t>
            </a:r>
            <a:endParaRPr/>
          </a:p>
        </p:txBody>
      </p:sp>
      <p:sp>
        <p:nvSpPr>
          <p:cNvPr id="213" name="Google Shape;213;p1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4" name="Google Shape;2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256" y="4418942"/>
            <a:ext cx="4710193" cy="86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5550" y="5772150"/>
            <a:ext cx="7486650" cy="3360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4"/>
          <p:cNvSpPr txBox="1"/>
          <p:nvPr>
            <p:ph type="title"/>
          </p:nvPr>
        </p:nvSpPr>
        <p:spPr>
          <a:xfrm>
            <a:off x="1645920" y="952500"/>
            <a:ext cx="150876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en-IN"/>
              <a:t>Contd</a:t>
            </a:r>
            <a:r>
              <a:rPr b="1" lang="en-IN" sz="5400"/>
              <a:t>..</a:t>
            </a:r>
            <a:endParaRPr b="1" sz="5400"/>
          </a:p>
        </p:txBody>
      </p:sp>
      <p:sp>
        <p:nvSpPr>
          <p:cNvPr id="221" name="Google Shape;221;p44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b="1" lang="en-IN" sz="3200" u="sng"/>
              <a:t>Floating-point Formatting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3200"/>
          </a:p>
          <a:p>
            <a: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3200"/>
          </a:p>
          <a:p>
            <a: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3200"/>
          </a:p>
          <a:p>
            <a:pPr indent="-3429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b="1" lang="en-IN" sz="3200" u="sng"/>
              <a:t>Multiple Values 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3200"/>
          </a:p>
          <a:p>
            <a:pPr indent="-2286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3200"/>
          </a:p>
        </p:txBody>
      </p:sp>
      <p:sp>
        <p:nvSpPr>
          <p:cNvPr id="222" name="Google Shape;222;p44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3" name="Google Shape;22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1595" y="3676591"/>
            <a:ext cx="6950005" cy="1733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1762" y="3676591"/>
            <a:ext cx="5138926" cy="156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2545" y="6544867"/>
            <a:ext cx="6969055" cy="2084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61590" y="6700800"/>
            <a:ext cx="4730760" cy="19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 txBox="1"/>
          <p:nvPr>
            <p:ph type="title"/>
          </p:nvPr>
        </p:nvSpPr>
        <p:spPr>
          <a:xfrm>
            <a:off x="359526" y="623455"/>
            <a:ext cx="1701407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</a:pPr>
            <a:r>
              <a:rPr b="1" lang="en-IN"/>
              <a:t>Built in string Methods and Function</a:t>
            </a:r>
            <a:endParaRPr b="1"/>
          </a:p>
        </p:txBody>
      </p:sp>
      <p:sp>
        <p:nvSpPr>
          <p:cNvPr id="232" name="Google Shape;232;p13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233" name="Google Shape;233;p13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4" name="Google Shape;234;p13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235" name="Google Shape;235;p13"/>
          <p:cNvSpPr txBox="1"/>
          <p:nvPr>
            <p:ph idx="1" type="body"/>
          </p:nvPr>
        </p:nvSpPr>
        <p:spPr>
          <a:xfrm>
            <a:off x="1645920" y="2680855"/>
            <a:ext cx="15087600" cy="61227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13716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String is an example of python objects.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Python supports many built in methods to manipulate strings.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A method is just like function.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Method is invoked or called on an object.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5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241" name="Google Shape;241;p45"/>
          <p:cNvGraphicFramePr/>
          <p:nvPr/>
        </p:nvGraphicFramePr>
        <p:xfrm>
          <a:off x="742950" y="3600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{89A2FD60-33CA-4DB5-B31F-3C4DA91ABEAC}</a:tableStyleId>
              </a:tblPr>
              <a:tblGrid>
                <a:gridCol w="1981200"/>
                <a:gridCol w="4248150"/>
                <a:gridCol w="3905250"/>
                <a:gridCol w="7067550"/>
              </a:tblGrid>
              <a:tr h="110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3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b="0" i="0" sz="3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3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Syntax</a:t>
                      </a:r>
                      <a:endParaRPr b="0" i="0" sz="3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3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Usage</a:t>
                      </a:r>
                      <a:endParaRPr b="0" i="0" sz="3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3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b="0" i="0" sz="3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481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capitalize()</a:t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string.capitalize()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Converts the first character to upper case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 = "hello, and welcome to my world."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=  txt.capitalize()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 (x)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61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casefold()</a:t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string.casefold()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Converts string into lower case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 = "Hello, And Welcome To My World!"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= txt.casefold()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print(x)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58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center()</a:t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string.center(length, character)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Returns a centered string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 = "banana"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= txt.center(20)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print(x)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10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count()</a:t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string.count(value, start, end)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Returns the number of times a specified value occurs in a string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 = "I love apples, apple are my favorite fruit"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= txt.count("apple")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print(x)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10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endswith()</a:t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string.endswith(value, start, end)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Returns true if the string ends with the specified value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 = "Hello, welcome to my world."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= txt.endswith(".")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print(x)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5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247" name="Google Shape;247;p46"/>
          <p:cNvGraphicFramePr/>
          <p:nvPr/>
        </p:nvGraphicFramePr>
        <p:xfrm>
          <a:off x="742950" y="2857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{89A2FD60-33CA-4DB5-B31F-3C4DA91ABEAC}</a:tableStyleId>
              </a:tblPr>
              <a:tblGrid>
                <a:gridCol w="1981200"/>
                <a:gridCol w="4248150"/>
                <a:gridCol w="3905250"/>
                <a:gridCol w="7067550"/>
              </a:tblGrid>
              <a:tr h="110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3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b="0" i="0" sz="3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3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Syntax</a:t>
                      </a:r>
                      <a:endParaRPr b="0" i="0" sz="3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3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Usage</a:t>
                      </a:r>
                      <a:endParaRPr b="0" i="0" sz="3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3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b="0" i="0" sz="3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481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find()</a:t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s.find(substring, start, end))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Searches the string for a specified value and returns the position of where it was found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 = "Hello, welcome to my world."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= txt.find("welcome")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print(x)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61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isascii()</a:t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string.isascii()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Returns True if all characters in the string are ascii characters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 = "Company123"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= txt.isascii()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print(x)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58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isnumeric()</a:t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string.isnumeric()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Returns True if all characters in the string are numeric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 = "565543"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= txt.isnumeric()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print(x)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10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isupper()</a:t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string.isupper()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Returns True if all characters in the string are upper case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 = "THIS IS NOW!"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= txt.isupper()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print(x)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10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split()</a:t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string.split(separator, maxsplit)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Splits the string at the specified separator, and returns a list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 = "welcome to the jungle"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= txt.split()</a:t>
                      </a:r>
                      <a:b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IN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print(x)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800"/>
              <a:buFont typeface="Calibri"/>
              <a:buNone/>
            </a:pPr>
            <a:r>
              <a:t/>
            </a:r>
            <a:endParaRPr b="1" sz="8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254" name="Google Shape;254;p17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255" name="Google Shape;255;p17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256" name="Google Shape;256;p17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7" name="Google Shape;2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0" y="502570"/>
            <a:ext cx="14051279" cy="8831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 txBox="1"/>
          <p:nvPr>
            <p:ph type="title"/>
          </p:nvPr>
        </p:nvSpPr>
        <p:spPr>
          <a:xfrm>
            <a:off x="2457450" y="429905"/>
            <a:ext cx="13373100" cy="18751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800"/>
              <a:buFont typeface="Calibri"/>
              <a:buNone/>
            </a:pPr>
            <a:r>
              <a:rPr lang="en-IN"/>
              <a:t>			</a:t>
            </a:r>
            <a:r>
              <a:rPr b="1" lang="en-IN"/>
              <a:t>Format()</a:t>
            </a:r>
            <a:endParaRPr b="1"/>
          </a:p>
        </p:txBody>
      </p:sp>
      <p:sp>
        <p:nvSpPr>
          <p:cNvPr id="263" name="Google Shape;263;p18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264" name="Google Shape;264;p18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265" name="Google Shape;265;p18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6" name="Google Shape;266;p18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It is used for formatting strings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Format strings have curly braces {} as placeholders or replacement fields which gets replaced.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We can use positional arguments or keyword arguments to specify the order of fields that have to be replaced.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 txBox="1"/>
          <p:nvPr>
            <p:ph type="title"/>
          </p:nvPr>
        </p:nvSpPr>
        <p:spPr>
          <a:xfrm>
            <a:off x="1847850" y="895351"/>
            <a:ext cx="1488567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b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lang="en-IN">
                <a:solidFill>
                  <a:srgbClr val="271900"/>
                </a:solidFill>
                <a:latin typeface="Calibri"/>
                <a:ea typeface="Calibri"/>
                <a:cs typeface="Calibri"/>
                <a:sym typeface="Calibri"/>
              </a:rPr>
              <a:t>Multiplying String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It returns a list of lines in the string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It uses the newline characters such as \r and \n to split lines.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Linebreaks are not included unless keepends are True.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Syntax :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str.splitlines(Keepends)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274" name="Google Shape;274;p19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275" name="Google Shape;275;p19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6" name="Google Shape;2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6276340"/>
            <a:ext cx="10338962" cy="252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 txBox="1"/>
          <p:nvPr>
            <p:ph type="title"/>
          </p:nvPr>
        </p:nvSpPr>
        <p:spPr>
          <a:xfrm>
            <a:off x="1333500" y="1085849"/>
            <a:ext cx="15666720" cy="15201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800"/>
              <a:buFont typeface="Calibri"/>
              <a:buNone/>
            </a:pPr>
            <a:r>
              <a:rPr b="1" lang="en-IN" sz="8800"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lang="en-IN"/>
              <a:t>Slice Operation</a:t>
            </a:r>
            <a:endParaRPr/>
          </a:p>
        </p:txBody>
      </p:sp>
      <p:sp>
        <p:nvSpPr>
          <p:cNvPr id="282" name="Google Shape;282;p20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283" name="Google Shape;283;p20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284" name="Google Shape;284;p20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85" name="Google Shape;285;p20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1905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A substring of a string is called a slice.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Slice operation is used to refer to the sub-parts of sequences and strings.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We can take a subset of a string from the original string by using [ ] operator also known as slicing operator.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Syntax of slice operation is : s[start: end] where start indicates beginning index of the substring and end-1 is the index of the last character.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Omitting either start or end index by default takes start or end of the string. Omitting both means the entire string.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Python gives flexibility to access the string either from the first or the last character.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If we are accessing the string from first character then we can use zero as index value,when doing it backward index starts with -1.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291" name="Google Shape;291;p21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292" name="Google Shape;292;p2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93" name="Google Shape;293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900" y="379449"/>
            <a:ext cx="5867400" cy="85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2125" y="379450"/>
            <a:ext cx="8939651" cy="18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43225" y="2240150"/>
            <a:ext cx="8572750" cy="700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"/>
          <p:cNvSpPr txBox="1"/>
          <p:nvPr>
            <p:ph type="title"/>
          </p:nvPr>
        </p:nvSpPr>
        <p:spPr>
          <a:xfrm>
            <a:off x="1645920" y="800099"/>
            <a:ext cx="14413230" cy="1765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b="1" lang="en-IN" sz="6600"/>
              <a:t>Specifying stride/stepsize while slicing the string	</a:t>
            </a:r>
            <a:endParaRPr sz="6600"/>
          </a:p>
        </p:txBody>
      </p:sp>
      <p:sp>
        <p:nvSpPr>
          <p:cNvPr id="301" name="Google Shape;301;p22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13716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In slice operation we have the option to specify stride as third argument, which refers to  umber of characters to move forward after the first character is retrieved from the string.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The default value of the stride is 1. </a:t>
            </a:r>
            <a:endParaRPr/>
          </a:p>
          <a:p>
            <a:pPr indent="-190500" lvl="0" marL="13716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Even whitespace characters are also skipped because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rPr lang="en-IN"/>
              <a:t>  they are part of a string.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302" name="Google Shape;302;p22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303" name="Google Shape;303;p22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304" name="Google Shape;304;p22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05" name="Google Shape;3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2976" y="4076700"/>
            <a:ext cx="6659880" cy="4909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956" y="5981700"/>
            <a:ext cx="7149502" cy="261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"/>
          <p:cNvSpPr txBox="1"/>
          <p:nvPr>
            <p:ph type="title"/>
          </p:nvPr>
        </p:nvSpPr>
        <p:spPr>
          <a:xfrm>
            <a:off x="2024078" y="1028699"/>
            <a:ext cx="13139722" cy="10515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Calibri"/>
              <a:buNone/>
            </a:pPr>
            <a:r>
              <a:rPr b="1" lang="en-IN"/>
              <a:t>					Contd..</a:t>
            </a:r>
            <a:endParaRPr b="1"/>
          </a:p>
        </p:txBody>
      </p:sp>
      <p:sp>
        <p:nvSpPr>
          <p:cNvPr id="312" name="Google Shape;312;p23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313" name="Google Shape;313;p23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314" name="Google Shape;314;p23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5" name="Google Shape;315;p23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Negative value can be also used as stride value.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With -3.we have skipped every third letter of the string str.</a:t>
            </a:r>
            <a:endParaRPr/>
          </a:p>
        </p:txBody>
      </p:sp>
      <p:pic>
        <p:nvPicPr>
          <p:cNvPr id="316" name="Google Shape;3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078" y="4610100"/>
            <a:ext cx="70104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86851" y="4610100"/>
            <a:ext cx="6754062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"/>
          <p:cNvSpPr txBox="1"/>
          <p:nvPr>
            <p:ph type="title"/>
          </p:nvPr>
        </p:nvSpPr>
        <p:spPr>
          <a:xfrm>
            <a:off x="704850" y="1009649"/>
            <a:ext cx="15163800" cy="12996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</a:pPr>
            <a:r>
              <a:rPr b="1" lang="en-IN"/>
              <a:t>				ord() and chr() functions </a:t>
            </a:r>
            <a:endParaRPr b="1"/>
          </a:p>
        </p:txBody>
      </p:sp>
      <p:sp>
        <p:nvSpPr>
          <p:cNvPr id="323" name="Google Shape;323;p24"/>
          <p:cNvSpPr txBox="1"/>
          <p:nvPr>
            <p:ph idx="1" type="body"/>
          </p:nvPr>
        </p:nvSpPr>
        <p:spPr>
          <a:xfrm>
            <a:off x="861646" y="2705100"/>
            <a:ext cx="16535400" cy="6588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74319" lvl="1" marL="57607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Arial"/>
              <a:buChar char="•"/>
            </a:pPr>
            <a:r>
              <a:rPr lang="en-IN" sz="3300">
                <a:latin typeface="Cambria"/>
                <a:ea typeface="Cambria"/>
                <a:cs typeface="Cambria"/>
                <a:sym typeface="Cambria"/>
              </a:rPr>
              <a:t>The ord( ) function returns the ASCII code of the character.</a:t>
            </a:r>
            <a:endParaRPr/>
          </a:p>
          <a:p>
            <a:pPr indent="-274319" lvl="1" marL="576072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3300"/>
              <a:buFont typeface="Arial"/>
              <a:buChar char="•"/>
            </a:pPr>
            <a:r>
              <a:rPr lang="en-IN" sz="3300">
                <a:latin typeface="Cambria"/>
                <a:ea typeface="Cambria"/>
                <a:cs typeface="Cambria"/>
                <a:sym typeface="Cambria"/>
              </a:rPr>
              <a:t>chr( ) function returns character represented by the  ASCII number.</a:t>
            </a:r>
            <a:endParaRPr/>
          </a:p>
          <a:p>
            <a:pPr indent="-64769" lvl="1" marL="576072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3300"/>
              <a:buFont typeface="Arial"/>
              <a:buNone/>
            </a:pPr>
            <a:r>
              <a:t/>
            </a:r>
            <a:endParaRPr sz="3300">
              <a:latin typeface="Cambria"/>
              <a:ea typeface="Cambria"/>
              <a:cs typeface="Cambria"/>
              <a:sym typeface="Cambria"/>
            </a:endParaRPr>
          </a:p>
          <a:p>
            <a:pPr indent="-64769" lvl="1" marL="576072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3300"/>
              <a:buFont typeface="Arial"/>
              <a:buNone/>
            </a:pPr>
            <a:r>
              <a:t/>
            </a:r>
            <a:endParaRPr sz="3300">
              <a:latin typeface="Cambria"/>
              <a:ea typeface="Cambria"/>
              <a:cs typeface="Cambria"/>
              <a:sym typeface="Cambria"/>
            </a:endParaRPr>
          </a:p>
          <a:p>
            <a:pPr indent="-64769" lvl="1" marL="576072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3300"/>
              <a:buFont typeface="Arial"/>
              <a:buNone/>
            </a:pPr>
            <a:r>
              <a:t/>
            </a:r>
            <a:endParaRPr sz="3300">
              <a:latin typeface="Cambria"/>
              <a:ea typeface="Cambria"/>
              <a:cs typeface="Cambria"/>
              <a:sym typeface="Cambria"/>
            </a:endParaRPr>
          </a:p>
          <a:p>
            <a:pPr indent="-64769" lvl="1" marL="576072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3300"/>
              <a:buFont typeface="Arial"/>
              <a:buNone/>
            </a:pPr>
            <a:r>
              <a:t/>
            </a:r>
            <a:endParaRPr sz="3300">
              <a:latin typeface="Cambria"/>
              <a:ea typeface="Cambria"/>
              <a:cs typeface="Cambria"/>
              <a:sym typeface="Cambria"/>
            </a:endParaRPr>
          </a:p>
          <a:p>
            <a:pPr indent="-64769" lvl="1" marL="576072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3300"/>
              <a:buFont typeface="Arial"/>
              <a:buNone/>
            </a:pPr>
            <a:r>
              <a:t/>
            </a:r>
            <a:endParaRPr sz="3300">
              <a:latin typeface="Cambria"/>
              <a:ea typeface="Cambria"/>
              <a:cs typeface="Cambria"/>
              <a:sym typeface="Cambria"/>
            </a:endParaRPr>
          </a:p>
          <a:p>
            <a:pPr indent="-64769" lvl="1" marL="576072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3300"/>
              <a:buFont typeface="Arial"/>
              <a:buNone/>
            </a:pPr>
            <a:r>
              <a:t/>
            </a:r>
            <a:endParaRPr sz="3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4" name="Google Shape;324;p24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325" name="Google Shape;325;p24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26" name="Google Shape;326;p24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pic>
        <p:nvPicPr>
          <p:cNvPr id="327" name="Google Shape;3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9087" y="4457700"/>
            <a:ext cx="15140517" cy="2607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5"/>
          <p:cNvSpPr txBox="1"/>
          <p:nvPr>
            <p:ph type="title"/>
          </p:nvPr>
        </p:nvSpPr>
        <p:spPr>
          <a:xfrm>
            <a:off x="1162050" y="476250"/>
            <a:ext cx="14954250" cy="19371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IN" sz="8000"/>
              <a:t>	In() and not in() operator – 	Membership Operator</a:t>
            </a:r>
            <a:r>
              <a:rPr b="1" lang="en-IN"/>
              <a:t>	</a:t>
            </a:r>
            <a:endParaRPr/>
          </a:p>
        </p:txBody>
      </p:sp>
      <p:sp>
        <p:nvSpPr>
          <p:cNvPr id="333" name="Google Shape;333;p25"/>
          <p:cNvSpPr txBox="1"/>
          <p:nvPr>
            <p:ph idx="1" type="body"/>
          </p:nvPr>
        </p:nvSpPr>
        <p:spPr>
          <a:xfrm>
            <a:off x="1645920" y="2768600"/>
            <a:ext cx="15087600" cy="656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In() and not in() are used in string to determine whether a string is present in another string.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They are also known as </a:t>
            </a:r>
            <a:r>
              <a:rPr b="1" lang="en-IN"/>
              <a:t>membership operator</a:t>
            </a:r>
            <a:r>
              <a:rPr lang="en-IN"/>
              <a:t>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334" name="Google Shape;334;p25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335" name="Google Shape;335;p25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336" name="Google Shape;336;p25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37" name="Google Shape;3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1824" y="4584274"/>
            <a:ext cx="1062104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"/>
          <p:cNvSpPr txBox="1"/>
          <p:nvPr>
            <p:ph type="title"/>
          </p:nvPr>
        </p:nvSpPr>
        <p:spPr>
          <a:xfrm>
            <a:off x="1645920" y="429905"/>
            <a:ext cx="15087600" cy="17798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800"/>
              <a:buFont typeface="Calibri"/>
              <a:buNone/>
            </a:pPr>
            <a:r>
              <a:rPr b="1" lang="en-IN" sz="8800">
                <a:latin typeface="Calibri"/>
                <a:ea typeface="Calibri"/>
                <a:cs typeface="Calibri"/>
                <a:sym typeface="Calibri"/>
              </a:rPr>
              <a:t>					Contd…</a:t>
            </a:r>
            <a:endParaRPr/>
          </a:p>
        </p:txBody>
      </p:sp>
      <p:sp>
        <p:nvSpPr>
          <p:cNvPr id="343" name="Google Shape;343;p26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344" name="Google Shape;344;p26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345" name="Google Shape;345;p26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46" name="Google Shape;346;p26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13716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94BA"/>
              </a:buClr>
              <a:buSzPts val="3000"/>
              <a:buFont typeface="Arial"/>
              <a:buChar char="•"/>
            </a:pPr>
            <a:r>
              <a:rPr b="0" i="0" lang="en-IN" sz="3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In() and not in() can be used to check whether a character is present in a word.</a:t>
            </a:r>
            <a:endParaRPr/>
          </a:p>
          <a:p>
            <a:pPr indent="0" lvl="0" marL="13716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3494BA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347" name="Google Shape;3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0355" y="3771900"/>
            <a:ext cx="14700728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7771" y="6284877"/>
            <a:ext cx="11171029" cy="139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057400" y="1276350"/>
            <a:ext cx="14554200" cy="12001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br>
              <a:rPr b="1" lang="en-IN" sz="8000">
                <a:latin typeface="Calibri"/>
                <a:ea typeface="Calibri"/>
                <a:cs typeface="Calibri"/>
                <a:sym typeface="Calibri"/>
              </a:rPr>
            </a:br>
            <a:r>
              <a:rPr b="1" lang="en-IN" sz="8000">
                <a:latin typeface="Calibri"/>
                <a:ea typeface="Calibri"/>
                <a:cs typeface="Calibri"/>
                <a:sym typeface="Calibri"/>
              </a:rPr>
              <a:t>			Comparing Strings</a:t>
            </a:r>
            <a:endParaRPr/>
          </a:p>
        </p:txBody>
      </p:sp>
      <p:sp>
        <p:nvSpPr>
          <p:cNvPr id="354" name="Google Shape;354;p27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355" name="Google Shape;355;p27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356" name="Google Shape;356;p27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57" name="Google Shape;357;p27"/>
          <p:cNvSpPr txBox="1"/>
          <p:nvPr>
            <p:ph idx="1" type="body"/>
          </p:nvPr>
        </p:nvSpPr>
        <p:spPr>
          <a:xfrm>
            <a:off x="1645920" y="2609849"/>
            <a:ext cx="15087600" cy="6743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None/>
            </a:pPr>
            <a:r>
              <a:rPr lang="en-IN"/>
              <a:t>Python allows you to compare the strings using relational or comparison operators such as &lt;,&gt;,&lt;=,&gt;= etc.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58" name="Google Shape;3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9207" y="3943350"/>
            <a:ext cx="11691484" cy="52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 txBox="1"/>
          <p:nvPr>
            <p:ph type="title"/>
          </p:nvPr>
        </p:nvSpPr>
        <p:spPr>
          <a:xfrm>
            <a:off x="1645920" y="429905"/>
            <a:ext cx="15087600" cy="19708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</a:pPr>
            <a:br>
              <a:rPr lang="en-IN"/>
            </a:br>
            <a:r>
              <a:rPr lang="en-IN"/>
              <a:t>					</a:t>
            </a:r>
            <a:r>
              <a:rPr b="1" lang="en-IN"/>
              <a:t>Contd…</a:t>
            </a:r>
            <a:endParaRPr b="1"/>
          </a:p>
        </p:txBody>
      </p:sp>
      <p:sp>
        <p:nvSpPr>
          <p:cNvPr id="364" name="Google Shape;364;p28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365" name="Google Shape;365;p28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366" name="Google Shape;366;p28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67" name="Google Shape;367;p28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These operators compares the string by using lexicographical order i.e using ASCII value of the character.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The ASCII value of A-Z is 65-90 and ASCII code of a-z 97-122.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68" name="Google Shape;3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1324" y="5130300"/>
            <a:ext cx="12323812" cy="1829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 txBox="1"/>
          <p:nvPr>
            <p:ph type="title"/>
          </p:nvPr>
        </p:nvSpPr>
        <p:spPr>
          <a:xfrm>
            <a:off x="1299200" y="1314450"/>
            <a:ext cx="150876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11111"/>
              <a:buFont typeface="Calibri"/>
              <a:buNone/>
            </a:pPr>
            <a:br>
              <a:rPr b="0" i="0" lang="en-IN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IN" sz="4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IN" sz="4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IN" sz="8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Iterating String</a:t>
            </a:r>
            <a:endParaRPr b="1" sz="8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08/7/2025</a:t>
            </a:r>
            <a:endParaRPr/>
          </a:p>
        </p:txBody>
      </p:sp>
      <p:sp>
        <p:nvSpPr>
          <p:cNvPr id="375" name="Google Shape;375;p29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376" name="Google Shape;376;p29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77" name="Google Shape;377;p29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String is a sequence type(sequence of characters).</a:t>
            </a:r>
            <a:endParaRPr/>
          </a:p>
          <a:p>
            <a:pPr indent="-19050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IN"/>
              <a:t>We can iterate through strings using for loop or while loop.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78" name="Google Shape;37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80" y="4276241"/>
            <a:ext cx="7917555" cy="3393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7402" y="4305300"/>
            <a:ext cx="6709392" cy="4498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Manojkumar N</dc:creator>
</cp:coreProperties>
</file>