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</p:sldIdLst>
  <p:sldSz cy="6858000" cx="12192000"/>
  <p:notesSz cx="6858000" cy="9144000"/>
  <p:embeddedFontLst>
    <p:embeddedFont>
      <p:font typeface="Corben"/>
      <p:bold r:id="rId111"/>
    </p:embeddedFont>
    <p:embeddedFont>
      <p:font typeface="Constantia"/>
      <p:regular r:id="rId112"/>
      <p:bold r:id="rId113"/>
      <p:italic r:id="rId114"/>
      <p:boldItalic r:id="rId115"/>
    </p:embeddedFont>
    <p:embeddedFont>
      <p:font typeface="Lato"/>
      <p:regular r:id="rId116"/>
      <p:bold r:id="rId117"/>
      <p:italic r:id="rId118"/>
      <p:boldItalic r:id="rId119"/>
    </p:embeddedFont>
    <p:embeddedFont>
      <p:font typeface="Inter"/>
      <p:regular r:id="rId120"/>
      <p:bold r:id="rId121"/>
      <p:italic r:id="rId122"/>
      <p:boldItalic r:id="rId123"/>
    </p:embeddedFont>
    <p:embeddedFont>
      <p:font typeface="Quattrocento Sans"/>
      <p:regular r:id="rId124"/>
      <p:bold r:id="rId125"/>
      <p:italic r:id="rId126"/>
      <p:boldItalic r:id="rId127"/>
    </p:embeddedFont>
    <p:embeddedFont>
      <p:font typeface="Arial Black"/>
      <p:regular r:id="rId128"/>
    </p:embeddedFont>
    <p:embeddedFont>
      <p:font typeface="Cambria Math"/>
      <p:regular r:id="rId1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0" roundtripDataSignature="AMtx7mhCl6JU9cOqa70D5+mc/tHoDexB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D3DBB5-A984-4F92-AD72-44BE094A7E41}">
  <a:tblStyle styleId="{CDD3DBB5-A984-4F92-AD72-44BE094A7E4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9EFF7"/>
          </a:solidFill>
        </a:fill>
      </a:tcStyle>
    </a:band1H>
    <a:band2H>
      <a:tcTxStyle/>
    </a:band2H>
    <a:band1V>
      <a:tcTxStyle/>
      <a:tcStyle>
        <a:fill>
          <a:solidFill>
            <a:srgbClr val="E9EFF7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FA607EBE-375D-4619-A835-4114AC1FA41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3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3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23BA5346-CD9C-46AB-B7E7-C429F22DA3A7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9EFF7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9EFF7"/>
          </a:solidFill>
        </a:fill>
      </a:tcStyle>
    </a:firstRow>
    <a:neCell>
      <a:tcTxStyle/>
    </a:neCell>
    <a:nwCell>
      <a:tcTxStyle/>
    </a:nwCell>
  </a:tblStyle>
  <a:tblStyle styleId="{EAC7BC0C-FBEC-469B-B0C9-CF68428DB30A}" styleName="Table_3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F7E38D6-8017-4926-90DF-D67E9C71E78D}" styleName="Table_4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5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5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  <a:tblStyle styleId="{B4403DD0-EA60-4B1B-8F4B-E8EC18375494}" styleName="Table_5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fill>
          <a:solidFill>
            <a:srgbClr val="E0E0E0"/>
          </a:solidFill>
        </a:fill>
      </a:tcStyle>
    </a:band1H>
    <a:band2H>
      <a:tcTxStyle/>
    </a:band2H>
    <a:band1V>
      <a:tcTxStyle/>
      <a:tcStyle>
        <a:fill>
          <a:solidFill>
            <a:srgbClr val="E0E0E0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0F0F0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F0F0F0"/>
          </a:solidFill>
        </a:fill>
      </a:tcStyle>
    </a:firstRow>
    <a:neCell>
      <a:tcTxStyle/>
    </a:neCell>
    <a:nwCell>
      <a:tcTxStyle/>
    </a:nwCell>
  </a:tblStyle>
  <a:tblStyle styleId="{5DBC014E-0952-427E-8424-E9D68D74DED1}" styleName="Table_6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font" Target="fonts/CambriaMath-regular.fntdata"/><Relationship Id="rId128" Type="http://schemas.openxmlformats.org/officeDocument/2006/relationships/font" Target="fonts/ArialBlack-regular.fntdata"/><Relationship Id="rId127" Type="http://schemas.openxmlformats.org/officeDocument/2006/relationships/font" Target="fonts/QuattrocentoSans-boldItalic.fntdata"/><Relationship Id="rId126" Type="http://schemas.openxmlformats.org/officeDocument/2006/relationships/font" Target="fonts/QuattrocentoSans-italic.fntdata"/><Relationship Id="rId26" Type="http://schemas.openxmlformats.org/officeDocument/2006/relationships/slide" Target="slides/slide21.xml"/><Relationship Id="rId121" Type="http://schemas.openxmlformats.org/officeDocument/2006/relationships/font" Target="fonts/Inter-bold.fntdata"/><Relationship Id="rId25" Type="http://schemas.openxmlformats.org/officeDocument/2006/relationships/slide" Target="slides/slide20.xml"/><Relationship Id="rId120" Type="http://schemas.openxmlformats.org/officeDocument/2006/relationships/font" Target="fonts/Inter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font" Target="fonts/QuattrocentoSans-bold.fntdata"/><Relationship Id="rId29" Type="http://schemas.openxmlformats.org/officeDocument/2006/relationships/slide" Target="slides/slide24.xml"/><Relationship Id="rId124" Type="http://schemas.openxmlformats.org/officeDocument/2006/relationships/font" Target="fonts/QuattrocentoSans-regular.fntdata"/><Relationship Id="rId123" Type="http://schemas.openxmlformats.org/officeDocument/2006/relationships/font" Target="fonts/Inter-boldItalic.fntdata"/><Relationship Id="rId122" Type="http://schemas.openxmlformats.org/officeDocument/2006/relationships/font" Target="fonts/Inter-italic.fntdata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font" Target="fonts/Lato-italic.fntdata"/><Relationship Id="rId117" Type="http://schemas.openxmlformats.org/officeDocument/2006/relationships/font" Target="fonts/Lato-bold.fntdata"/><Relationship Id="rId116" Type="http://schemas.openxmlformats.org/officeDocument/2006/relationships/font" Target="fonts/Lato-regular.fntdata"/><Relationship Id="rId115" Type="http://schemas.openxmlformats.org/officeDocument/2006/relationships/font" Target="fonts/Constantia-boldItalic.fntdata"/><Relationship Id="rId119" Type="http://schemas.openxmlformats.org/officeDocument/2006/relationships/font" Target="fonts/Lato-boldItalic.fntdata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Constantia-italic.fntdata"/><Relationship Id="rId18" Type="http://schemas.openxmlformats.org/officeDocument/2006/relationships/slide" Target="slides/slide13.xml"/><Relationship Id="rId113" Type="http://schemas.openxmlformats.org/officeDocument/2006/relationships/font" Target="fonts/Constantia-bold.fntdata"/><Relationship Id="rId112" Type="http://schemas.openxmlformats.org/officeDocument/2006/relationships/font" Target="fonts/Constantia-regular.fntdata"/><Relationship Id="rId111" Type="http://schemas.openxmlformats.org/officeDocument/2006/relationships/font" Target="fonts/Corben-bold.fntdata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0" Type="http://customschemas.google.com/relationships/presentationmetadata" Target="metadata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0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10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w3schools.com/python/ref_list_copy.asp" TargetMode="External"/><Relationship Id="rId10" Type="http://schemas.openxmlformats.org/officeDocument/2006/relationships/hyperlink" Target="https://www.w3schools.com/python/ref_list_remove.asp" TargetMode="External"/><Relationship Id="rId13" Type="http://schemas.openxmlformats.org/officeDocument/2006/relationships/hyperlink" Target="https://www.w3schools.com/python/ref_list_sort.asp" TargetMode="External"/><Relationship Id="rId12" Type="http://schemas.openxmlformats.org/officeDocument/2006/relationships/hyperlink" Target="https://www.w3schools.com/python/ref_list_reverse.asp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w3schools.com/python/ref_list_append.asp" TargetMode="External"/><Relationship Id="rId4" Type="http://schemas.openxmlformats.org/officeDocument/2006/relationships/hyperlink" Target="https://www.w3schools.com/python/ref_list_insert.asp" TargetMode="External"/><Relationship Id="rId9" Type="http://schemas.openxmlformats.org/officeDocument/2006/relationships/hyperlink" Target="https://www.w3schools.com/python/ref_list_pop.asp" TargetMode="External"/><Relationship Id="rId5" Type="http://schemas.openxmlformats.org/officeDocument/2006/relationships/hyperlink" Target="https://www.w3schools.com/python/ref_list_extend.asp" TargetMode="External"/><Relationship Id="rId6" Type="http://schemas.openxmlformats.org/officeDocument/2006/relationships/hyperlink" Target="https://www.w3schools.com/python/ref_list_clear.asp" TargetMode="External"/><Relationship Id="rId7" Type="http://schemas.openxmlformats.org/officeDocument/2006/relationships/hyperlink" Target="https://www.w3schools.com/python/ref_list_count.asp" TargetMode="External"/><Relationship Id="rId8" Type="http://schemas.openxmlformats.org/officeDocument/2006/relationships/hyperlink" Target="https://www.w3schools.com/python/ref_list_index.asp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9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0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74801" y="981398"/>
            <a:ext cx="8387819" cy="939110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 fontScale="77500" lnSpcReduction="2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mbria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OBJECT ORIENTED PROGRAMMING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mbria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(23EN1202)</a:t>
            </a:r>
            <a:endParaRPr b="1" i="0" sz="3600" u="none" cap="none" strike="noStrike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97281" y="1944708"/>
            <a:ext cx="9926319" cy="1230292"/>
          </a:xfrm>
          <a:prstGeom prst="rect">
            <a:avLst/>
          </a:prstGeom>
          <a:noFill/>
          <a:ln>
            <a:noFill/>
          </a:ln>
        </p:spPr>
        <p:txBody>
          <a:bodyPr anchorCtr="0" anchor="b" bIns="30475" lIns="60950" spcFirstLastPara="1" rIns="60950" wrap="square" tIns="30475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UNIT-3: </a:t>
            </a:r>
            <a:r>
              <a:rPr b="1" i="0" lang="en-US" sz="3600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DATA STRUCTURES IN PYTHON</a:t>
            </a:r>
            <a:endParaRPr b="1" i="0" sz="3600" u="none" cap="none" strike="noStrike">
              <a:solidFill>
                <a:srgbClr val="C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mc:AlternateContent>
    <mc:Choice Requires="p14">
      <p:transition spd="slow" p14:dur="4000">
        <p14:vortex dir="r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478178" y="377056"/>
            <a:ext cx="10650070" cy="94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600"/>
              <a:buFont typeface="Corben"/>
              <a:buNone/>
            </a:pPr>
            <a:r>
              <a:rPr lang="en-US" sz="3600">
                <a:solidFill>
                  <a:srgbClr val="00B0F0"/>
                </a:solidFill>
                <a:latin typeface="Corben"/>
                <a:ea typeface="Corben"/>
                <a:cs typeface="Corben"/>
                <a:sym typeface="Corben"/>
              </a:rPr>
              <a:t>content</a:t>
            </a:r>
            <a:endParaRPr>
              <a:solidFill>
                <a:srgbClr val="00B0F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478178" y="1138518"/>
            <a:ext cx="11193869" cy="5442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1" lang="en-US" sz="2900">
                <a:latin typeface="Times New Roman"/>
                <a:ea typeface="Times New Roman"/>
                <a:cs typeface="Times New Roman"/>
                <a:sym typeface="Times New Roman"/>
              </a:rPr>
              <a:t>data structure 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is a group of data elements that are put together under one name.	</a:t>
            </a:r>
            <a:endParaRPr/>
          </a:p>
          <a:p>
            <a:pPr indent="0" lvl="0" marL="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900">
                <a:latin typeface="Times New Roman"/>
                <a:ea typeface="Times New Roman"/>
                <a:cs typeface="Times New Roman"/>
                <a:sym typeface="Times New Roman"/>
              </a:rPr>
              <a:t>Data structure 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defines a particular way of storing and organizing data in a computer so that it can be used efficiently.</a:t>
            </a:r>
            <a:endParaRPr/>
          </a:p>
          <a:p>
            <a:pPr indent="0" lvl="0" marL="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900">
                <a:latin typeface="Times New Roman"/>
                <a:ea typeface="Times New Roman"/>
                <a:cs typeface="Times New Roman"/>
                <a:sym typeface="Times New Roman"/>
              </a:rPr>
              <a:t>Sequence</a:t>
            </a: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 is the most basic data structure in python. It is a collection of elements arranged in a particular order.</a:t>
            </a:r>
            <a:endParaRPr/>
          </a:p>
          <a:p>
            <a:pPr indent="0" lvl="0" marL="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900">
                <a:latin typeface="Times New Roman"/>
                <a:ea typeface="Times New Roman"/>
                <a:cs typeface="Times New Roman"/>
                <a:sym typeface="Times New Roman"/>
              </a:rPr>
              <a:t>In the sequence data structure, each element has a specific index </a:t>
            </a:r>
            <a:r>
              <a:rPr b="1" i="1" lang="en-US" sz="2900">
                <a:latin typeface="Times New Roman"/>
                <a:ea typeface="Times New Roman"/>
                <a:cs typeface="Times New Roman"/>
                <a:sym typeface="Times New Roman"/>
              </a:rPr>
              <a:t>(starts from zero and is automatically incremented for the next element in the sequence)</a:t>
            </a:r>
            <a:endParaRPr/>
          </a:p>
          <a:p>
            <a:pPr indent="0" lvl="0" marL="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i="1" lang="en-US" sz="2900">
                <a:latin typeface="Times New Roman"/>
                <a:ea typeface="Times New Roman"/>
                <a:cs typeface="Times New Roman"/>
                <a:sym typeface="Times New Roman"/>
              </a:rPr>
              <a:t>Ex: Strings – sequence of characters</a:t>
            </a:r>
            <a:endParaRPr/>
          </a:p>
          <a:p>
            <a:pPr indent="0" lvl="0" marL="0" rtl="0" algn="just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i="1" lang="en-US" sz="2900">
                <a:latin typeface="Times New Roman"/>
                <a:ea typeface="Times New Roman"/>
                <a:cs typeface="Times New Roman"/>
                <a:sym typeface="Times New Roman"/>
              </a:rPr>
              <a:t>        Lists, Tuples – type of sequence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2400">
              <a:solidFill>
                <a:srgbClr val="FF0000"/>
              </a:solidFill>
            </a:endParaRPr>
          </a:p>
        </p:txBody>
      </p:sp>
      <p:sp>
        <p:nvSpPr>
          <p:cNvPr id="97" name="Google Shape;9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259493" y="530688"/>
            <a:ext cx="3455821" cy="34600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n"/>
              <a:buNone/>
            </a:pPr>
            <a:r>
              <a:rPr lang="en-US" sz="3200">
                <a:latin typeface="Corben"/>
                <a:ea typeface="Corben"/>
                <a:cs typeface="Corben"/>
                <a:sym typeface="Corben"/>
              </a:rPr>
              <a:t>Terminologies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259492" y="1037691"/>
            <a:ext cx="4510215" cy="5400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Ordered and Unordered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Ordered/Indexed</a:t>
            </a:r>
            <a:r>
              <a:rPr lang="en-US"/>
              <a:t> –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Ordered means that the data structure retains the ordering as provided by the programmer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>
                <a:latin typeface="Constantia"/>
                <a:ea typeface="Constantia"/>
                <a:cs typeface="Constantia"/>
                <a:sym typeface="Constantia"/>
              </a:rPr>
              <a:t>	</a:t>
            </a:r>
            <a:r>
              <a:rPr b="1" lang="en-US"/>
              <a:t>Ex: </a:t>
            </a:r>
            <a:r>
              <a:rPr i="1" lang="en-US"/>
              <a:t>String, List and Tuples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i="1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Unordered -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Unordered means that the data structure doesn’t have a specific order, and doesn’t care about any ordering by the programmer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 	</a:t>
            </a:r>
            <a:r>
              <a:rPr b="1" lang="en-US"/>
              <a:t>Ex: </a:t>
            </a:r>
            <a:r>
              <a:rPr i="1" lang="en-US"/>
              <a:t>Sets and Dictionaries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1700"/>
          </a:p>
        </p:txBody>
      </p:sp>
      <p:grpSp>
        <p:nvGrpSpPr>
          <p:cNvPr id="105" name="Google Shape;105;p3"/>
          <p:cNvGrpSpPr/>
          <p:nvPr/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6" name="Google Shape;106;p3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0">
                  <a:srgbClr val="8DA9DB">
                    <a:alpha val="0"/>
                  </a:srgbClr>
                </a:gs>
                <a:gs pos="19000">
                  <a:srgbClr val="8DA9DB">
                    <a:alpha val="0"/>
                  </a:srgbClr>
                </a:gs>
                <a:gs pos="100000">
                  <a:srgbClr val="8DA9DB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5708" y="380144"/>
            <a:ext cx="6390526" cy="605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1239863" y="1531459"/>
            <a:ext cx="49176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b="1" lang="en-US">
                <a:solidFill>
                  <a:srgbClr val="C00000"/>
                </a:solidFill>
              </a:rPr>
              <a:t>Immutable -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if the value of an object cannot be changed over time, then it is known as immutable. Once created, the value of these objects is permanent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	Ex: </a:t>
            </a:r>
            <a:r>
              <a:rPr i="1" lang="en-US">
                <a:solidFill>
                  <a:srgbClr val="0070C0"/>
                </a:solidFill>
              </a:rPr>
              <a:t>Strings, Tuples and Frozen-sets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3698696" y="731240"/>
            <a:ext cx="4103737" cy="80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Mutable and Immutable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6657541" y="1520785"/>
            <a:ext cx="4294596" cy="3816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Mutable – </a:t>
            </a:r>
            <a:r>
              <a:rPr lang="en-US" sz="2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is the ability of objects to change their values. </a:t>
            </a:r>
            <a:r>
              <a:rPr b="0" i="0" lang="en-US" sz="28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Mutable objects are those whose internal state can be changed after creation. </a:t>
            </a:r>
            <a:endParaRPr sz="2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Ex: </a:t>
            </a:r>
            <a:r>
              <a:rPr i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List, Set and Dictionary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3268534" y="496766"/>
            <a:ext cx="5257800" cy="424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Ex: int objects are immutable in python</a:t>
            </a:r>
            <a:endParaRPr/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3884" y="1292056"/>
            <a:ext cx="34671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171" y="2943056"/>
            <a:ext cx="3344813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 txBox="1"/>
          <p:nvPr/>
        </p:nvSpPr>
        <p:spPr>
          <a:xfrm>
            <a:off x="8168090" y="2943056"/>
            <a:ext cx="386423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A0A23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C</a:t>
            </a:r>
            <a:r>
              <a:rPr b="0" i="0" lang="en-US" sz="2400" u="none" strike="noStrike">
                <a:solidFill>
                  <a:srgbClr val="0A0A23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reated a new object and bound the name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400" u="none" strike="noStrike">
                <a:solidFill>
                  <a:srgbClr val="0A0A23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 to this new object. The other object with the value of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24601</a:t>
            </a:r>
            <a:r>
              <a:rPr b="0" i="0" lang="en-US" sz="2400" u="none" strike="noStrike">
                <a:solidFill>
                  <a:srgbClr val="0A0A23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 is no longer reachable by 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133" y="1292055"/>
            <a:ext cx="2918932" cy="4492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1193662"/>
            <a:ext cx="5702643" cy="1118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978" y="1091012"/>
            <a:ext cx="4658497" cy="52232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2756188" y="466983"/>
            <a:ext cx="653289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List objects are mutable in python</a:t>
            </a:r>
            <a:endParaRPr/>
          </a:p>
        </p:txBody>
      </p:sp>
      <p:sp>
        <p:nvSpPr>
          <p:cNvPr id="132" name="Google Shape;132;p6"/>
          <p:cNvSpPr txBox="1"/>
          <p:nvPr/>
        </p:nvSpPr>
        <p:spPr>
          <a:xfrm>
            <a:off x="10111112" y="2311758"/>
            <a:ext cx="18891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4390012992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8947320" y="3436706"/>
            <a:ext cx="2851322" cy="88931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2376, 2, 3</a:t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10111112" y="4410421"/>
            <a:ext cx="18891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4390012992</a:t>
            </a:r>
            <a:endParaRPr/>
          </a:p>
        </p:txBody>
      </p:sp>
      <p:pic>
        <p:nvPicPr>
          <p:cNvPr id="135" name="Google Shape;13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2635" y="3519500"/>
            <a:ext cx="2851322" cy="806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type="title"/>
          </p:nvPr>
        </p:nvSpPr>
        <p:spPr>
          <a:xfrm>
            <a:off x="478178" y="798853"/>
            <a:ext cx="10650070" cy="940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600"/>
              <a:buFont typeface="Corben"/>
              <a:buNone/>
            </a:pPr>
            <a:r>
              <a:rPr lang="en-US" sz="3600">
                <a:solidFill>
                  <a:srgbClr val="00B0F0"/>
                </a:solidFill>
                <a:latin typeface="Corben"/>
                <a:ea typeface="Corben"/>
                <a:cs typeface="Corben"/>
                <a:sym typeface="Corben"/>
              </a:rPr>
              <a:t>Data-structures</a:t>
            </a:r>
            <a:endParaRPr>
              <a:solidFill>
                <a:srgbClr val="00B0F0"/>
              </a:solidFill>
              <a:latin typeface="Corben"/>
              <a:ea typeface="Corben"/>
              <a:cs typeface="Corben"/>
              <a:sym typeface="Corben"/>
            </a:endParaRPr>
          </a:p>
        </p:txBody>
      </p:sp>
      <p:sp>
        <p:nvSpPr>
          <p:cNvPr id="142" name="Google Shape;142;p7"/>
          <p:cNvSpPr txBox="1"/>
          <p:nvPr>
            <p:ph idx="1" type="body"/>
          </p:nvPr>
        </p:nvSpPr>
        <p:spPr>
          <a:xfrm>
            <a:off x="232229" y="1739609"/>
            <a:ext cx="11654971" cy="4981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en-US" sz="2400" u="sng">
                <a:solidFill>
                  <a:srgbClr val="FF0000"/>
                </a:solidFill>
              </a:rPr>
              <a:t>Types of Data Structures</a:t>
            </a:r>
            <a:endParaRPr/>
          </a:p>
          <a:p>
            <a:pPr indent="-2400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Strings</a:t>
            </a:r>
            <a:r>
              <a:rPr lang="en-US" sz="2400"/>
              <a:t> – immutable ordered sequence of characters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       </a:t>
            </a:r>
            <a:r>
              <a:rPr lang="en-US">
                <a:solidFill>
                  <a:srgbClr val="C00000"/>
                </a:solidFill>
              </a:rPr>
              <a:t>EX:</a:t>
            </a:r>
            <a:r>
              <a:rPr lang="en-US"/>
              <a:t>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 = ‘abc’  </a:t>
            </a:r>
            <a:r>
              <a:rPr lang="en-US"/>
              <a:t>or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 = “abc”  </a:t>
            </a:r>
            <a:r>
              <a:rPr lang="en-US"/>
              <a:t>or 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 = ‘‘‘abc’’’</a:t>
            </a:r>
            <a:endParaRPr/>
          </a:p>
          <a:p>
            <a:pPr indent="-2400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List</a:t>
            </a:r>
            <a:r>
              <a:rPr lang="en-US" sz="2400"/>
              <a:t> – mutable ordered sequence of objects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       EX: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 = [1,2,’a’]</a:t>
            </a:r>
            <a:endParaRPr/>
          </a:p>
          <a:p>
            <a:pPr indent="-2400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Tuples</a:t>
            </a:r>
            <a:r>
              <a:rPr lang="en-US" sz="2400"/>
              <a:t> – immutable ordered sequence of objects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       EX: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T = (1,2,’a’)</a:t>
            </a:r>
            <a:endParaRPr sz="2400"/>
          </a:p>
          <a:p>
            <a:pPr indent="-2400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Sets</a:t>
            </a:r>
            <a:r>
              <a:rPr lang="en-US" sz="2400"/>
              <a:t> – mutable unordered sequence of unique element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       EX: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 = {1,2,3}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      Frozen-sets</a:t>
            </a:r>
            <a:r>
              <a:rPr lang="en-US" sz="2400"/>
              <a:t> – same as </a:t>
            </a:r>
            <a:r>
              <a:rPr b="1" lang="en-US" sz="2400"/>
              <a:t>Sets</a:t>
            </a:r>
            <a:r>
              <a:rPr lang="en-US" sz="2400"/>
              <a:t> but it is immutable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       EX: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FS = frozenset(s)</a:t>
            </a:r>
            <a:endParaRPr sz="2400"/>
          </a:p>
          <a:p>
            <a:pPr indent="-24003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Dictionaries</a:t>
            </a:r>
            <a:r>
              <a:rPr lang="en-US" sz="2400"/>
              <a:t> – mutable unordered collection of value pairs </a:t>
            </a:r>
            <a:r>
              <a:rPr i="1" lang="en-US"/>
              <a:t>(mapping unique key to value)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E3611"/>
              </a:buClr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       EX:  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D = {1:’Karnataka’,2:’Kerala’,3:’Tamil Nadu’}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143" name="Google Shape;14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6000"/>
              <a:buFont typeface="Times New Roman"/>
              <a:buNone/>
            </a:pPr>
            <a:r>
              <a:rPr lang="en-US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708211" y="941281"/>
            <a:ext cx="1104451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List: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It is a data structure in Python. Lists are used to store multiple items in a single variable.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list is an ordered sequence of values and are mutable/changeable.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 values inside the lists can be of any type (like integer, float, strings, lists, tuples, dictionaries etc..) and are called as elements or items. 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Lists are written with square brackets.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708211" y="3803603"/>
            <a:ext cx="11044518" cy="2739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mylist=[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1"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-4</a:t>
            </a:r>
            <a:r>
              <a:rPr b="1"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 25</a:t>
            </a:r>
            <a:r>
              <a:rPr b="1"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 13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r>
              <a:rPr lang="en-US" sz="24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[10,-4, 25, 13]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List items are indexed, the first item has index </a:t>
            </a:r>
            <a:r>
              <a:rPr b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[0]</a:t>
            </a:r>
            <a:r>
              <a:rPr b="1" i="1"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, the second item has index </a:t>
            </a:r>
            <a:r>
              <a:rPr b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b="1" i="1"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 etc.</a:t>
            </a:r>
            <a:endParaRPr b="1" i="1" sz="20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0" y="23261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" name="Google Shape;156;p9"/>
          <p:cNvGraphicFramePr/>
          <p:nvPr/>
        </p:nvGraphicFramePr>
        <p:xfrm>
          <a:off x="8075482" y="50422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752575"/>
                <a:gridCol w="752575"/>
                <a:gridCol w="752575"/>
                <a:gridCol w="7525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-4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7" name="Google Shape;157;p9"/>
          <p:cNvGraphicFramePr/>
          <p:nvPr/>
        </p:nvGraphicFramePr>
        <p:xfrm>
          <a:off x="8075484" y="46765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752575"/>
                <a:gridCol w="752575"/>
                <a:gridCol w="752575"/>
                <a:gridCol w="752575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602082" y="811205"/>
            <a:ext cx="10987835" cy="6046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onstantia"/>
                <a:ea typeface="Constantia"/>
                <a:cs typeface="Constantia"/>
                <a:sym typeface="Constantia"/>
              </a:rPr>
              <a:t>List Items - Data Types: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List items can be of any data type</a:t>
            </a:r>
            <a:endParaRPr b="1"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list1 = [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400"/>
            </a:br>
            <a:r>
              <a:rPr b="1" lang="en-US" sz="2400"/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list2 = [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400"/>
            </a:br>
            <a:r>
              <a:rPr b="1" lang="en-US" sz="2400"/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list3 = [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print(list1)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print(list2)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print(list3)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['apple', 'banana', 'cherry‘]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[1, 5, 7, 9, 3]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[True, False, False]</a:t>
            </a:r>
            <a:endParaRPr sz="2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549740" y="1143640"/>
            <a:ext cx="10987835" cy="4353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List Items - Data Types:  </a:t>
            </a:r>
            <a:r>
              <a:rPr lang="en-US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list can contain different data types</a:t>
            </a:r>
            <a:endParaRPr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list1 = [</a:t>
            </a:r>
            <a:r>
              <a:rPr b="1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"abc"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"male"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print(list1)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['abc', 34, True, 40, 'male‘] 	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idx="1" type="body"/>
          </p:nvPr>
        </p:nvSpPr>
        <p:spPr>
          <a:xfrm>
            <a:off x="811741" y="1432614"/>
            <a:ext cx="10987835" cy="38996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tantia"/>
                <a:ea typeface="Constantia"/>
                <a:cs typeface="Constantia"/>
                <a:sym typeface="Constantia"/>
              </a:rPr>
              <a:t>Allow Duplicates:  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Since lists are indexed, they can have items with the same value: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=[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/>
            </a:br>
            <a:r>
              <a:rPr b="1" lang="en-US"/>
              <a:t>	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['apple', 'banana', 'cherry', 'apple', 'cherry']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711104" y="1216852"/>
            <a:ext cx="10987835" cy="4629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onstantia"/>
                <a:ea typeface="Constantia"/>
                <a:cs typeface="Constantia"/>
                <a:sym typeface="Constantia"/>
              </a:rPr>
              <a:t>type():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From Python's perspective, list are defined as objects with the data type ‘list'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&lt;class 'list'&gt;</a:t>
            </a:r>
            <a:endParaRPr b="1" i="1"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 [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400"/>
            </a:br>
            <a:r>
              <a:rPr b="1" lang="en-US" sz="2400"/>
              <a:t>	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&lt;class 'list'&gt;</a:t>
            </a:r>
            <a:endParaRPr sz="24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idx="1" type="body"/>
          </p:nvPr>
        </p:nvSpPr>
        <p:spPr>
          <a:xfrm>
            <a:off x="725619" y="1042681"/>
            <a:ext cx="10987835" cy="5522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tantia"/>
                <a:ea typeface="Constantia"/>
                <a:cs typeface="Constantia"/>
                <a:sym typeface="Constantia"/>
              </a:rPr>
              <a:t>The list() Constructor: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It is also possible to use the </a:t>
            </a:r>
            <a:r>
              <a:rPr b="1" i="1" lang="en-US">
                <a:latin typeface="Constantia"/>
                <a:ea typeface="Constantia"/>
                <a:cs typeface="Constantia"/>
                <a:sym typeface="Constantia"/>
              </a:rPr>
              <a:t>list() </a:t>
            </a:r>
            <a:r>
              <a:rPr lang="en-US">
                <a:latin typeface="Constantia"/>
                <a:ea typeface="Constantia"/>
                <a:cs typeface="Constantia"/>
                <a:sym typeface="Constantia"/>
              </a:rPr>
              <a:t>constructor to make a list.</a:t>
            </a:r>
            <a:endParaRPr b="1" i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 list((</a:t>
            </a:r>
            <a:r>
              <a:rPr b="1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 </a:t>
            </a:r>
            <a:b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(mylist) 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['apple', 'banana', 'cherry‘]</a:t>
            </a:r>
            <a:endParaRPr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/>
          <p:nvPr>
            <p:ph idx="1" type="body"/>
          </p:nvPr>
        </p:nvSpPr>
        <p:spPr>
          <a:xfrm>
            <a:off x="456858" y="926567"/>
            <a:ext cx="6426827" cy="5638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Constantia"/>
                <a:ea typeface="Constantia"/>
                <a:cs typeface="Constantia"/>
                <a:sym typeface="Constantia"/>
              </a:rPr>
              <a:t>Access List Items: </a:t>
            </a: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You can access list items by referring to the index number, inside square brackets</a:t>
            </a:r>
            <a:endParaRPr b="1" i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i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my_list = [</a:t>
            </a:r>
            <a:r>
              <a:rPr b="1" lang="en-US" sz="20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3,4,6,10,8</a:t>
            </a: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000"/>
            </a:br>
            <a:r>
              <a:rPr b="1" lang="en-US" sz="2000"/>
              <a:t>	</a:t>
            </a:r>
            <a:r>
              <a:rPr b="1" lang="en-US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Constantia"/>
                <a:ea typeface="Constantia"/>
                <a:cs typeface="Constantia"/>
                <a:sym typeface="Constantia"/>
              </a:rPr>
              <a:t>Negative Indexing: </a:t>
            </a: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Negative indexing means start from the end.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 refers to the last item,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-2 </a:t>
            </a: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refers to the second last item etc.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i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my_list = [</a:t>
            </a:r>
            <a:r>
              <a:rPr b="1" lang="en-US" sz="20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3,4,6,10,8</a:t>
            </a: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000"/>
            </a:br>
            <a:r>
              <a:rPr b="1" lang="en-US" sz="2000"/>
              <a:t>	</a:t>
            </a:r>
            <a:r>
              <a:rPr b="1" lang="en-US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</a:t>
            </a:r>
            <a:r>
              <a:rPr b="1" lang="en-U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/>
          </a:p>
        </p:txBody>
      </p:sp>
      <p:pic>
        <p:nvPicPr>
          <p:cNvPr id="188" name="Google Shape;1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3685" y="1684961"/>
            <a:ext cx="4982967" cy="3575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idx="1" type="body"/>
          </p:nvPr>
        </p:nvSpPr>
        <p:spPr>
          <a:xfrm>
            <a:off x="318499" y="318499"/>
            <a:ext cx="11753636" cy="62855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Range of Indexes: </a:t>
            </a: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You can specify a range of indexes by specifying where to start and where to end the range.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When specifying a range, the return value will be a new list with the specified items.</a:t>
            </a:r>
            <a:endParaRPr b="1" i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 b="1" i="1" sz="1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 the third, fourth, and fifth item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 [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200"/>
            </a:br>
            <a:r>
              <a:rPr b="1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['cherry', 'orange', 'kiwi']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000"/>
              <a:buNone/>
            </a:pPr>
            <a:r>
              <a:rPr b="1" i="1" lang="en-US" sz="20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Note:</a:t>
            </a:r>
            <a:r>
              <a:rPr i="1" lang="en-US" sz="20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 The search will start at index </a:t>
            </a:r>
            <a:r>
              <a:rPr b="1" i="1" lang="en-US" sz="20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2 </a:t>
            </a:r>
            <a:r>
              <a:rPr i="1" lang="en-US" sz="20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(</a:t>
            </a:r>
            <a:r>
              <a:rPr b="1" i="1" lang="en-US" sz="20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included</a:t>
            </a:r>
            <a:r>
              <a:rPr i="1" lang="en-US" sz="20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) and end at index </a:t>
            </a:r>
            <a:r>
              <a:rPr b="1" i="1" lang="en-US" sz="20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5</a:t>
            </a:r>
            <a:r>
              <a:rPr i="1" lang="en-US" sz="20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 (</a:t>
            </a:r>
            <a:r>
              <a:rPr b="1" i="1" lang="en-US" sz="20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not included</a:t>
            </a:r>
            <a:r>
              <a:rPr i="1" lang="en-US" sz="20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).</a:t>
            </a:r>
            <a:endParaRPr i="1"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8135"/>
              </a:buClr>
              <a:buSzPts val="1800"/>
              <a:buNone/>
            </a:pPr>
            <a:r>
              <a:rPr i="1" lang="en-US" sz="1800">
                <a:solidFill>
                  <a:srgbClr val="548135"/>
                </a:solidFill>
                <a:latin typeface="Constantia"/>
                <a:ea typeface="Constantia"/>
                <a:cs typeface="Constantia"/>
                <a:sym typeface="Constantia"/>
              </a:rPr>
              <a:t>------------------------------------------------------------------------------------------------------------------------------------------</a:t>
            </a:r>
            <a:endParaRPr/>
          </a:p>
        </p:txBody>
      </p:sp>
      <p:graphicFrame>
        <p:nvGraphicFramePr>
          <p:cNvPr id="194" name="Google Shape;194;p16"/>
          <p:cNvGraphicFramePr/>
          <p:nvPr/>
        </p:nvGraphicFramePr>
        <p:xfrm>
          <a:off x="1695234" y="53761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orange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kiwi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mango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95" name="Google Shape;195;p16"/>
          <p:cNvGraphicFramePr/>
          <p:nvPr/>
        </p:nvGraphicFramePr>
        <p:xfrm>
          <a:off x="1695234" y="50104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idx="1" type="body"/>
          </p:nvPr>
        </p:nvSpPr>
        <p:spPr>
          <a:xfrm>
            <a:off x="544529" y="821933"/>
            <a:ext cx="11435137" cy="5355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returns the items from the beginning to, but NOT including, "kiwi"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=[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200"/>
            </a:br>
            <a:r>
              <a:rPr b="1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(mylist[: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['apple', 'banana', 'cherry', 'orange']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201" name="Google Shape;201;p17"/>
          <p:cNvGraphicFramePr/>
          <p:nvPr/>
        </p:nvGraphicFramePr>
        <p:xfrm>
          <a:off x="1695234" y="53761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orange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kiwi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mango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2" name="Google Shape;202;p17"/>
          <p:cNvGraphicFramePr/>
          <p:nvPr/>
        </p:nvGraphicFramePr>
        <p:xfrm>
          <a:off x="1695234" y="50104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" type="body"/>
          </p:nvPr>
        </p:nvSpPr>
        <p:spPr>
          <a:xfrm>
            <a:off x="224118" y="708212"/>
            <a:ext cx="11636188" cy="5932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</a:pPr>
            <a:r>
              <a:t/>
            </a:r>
            <a:endParaRPr b="1" i="1" sz="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i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returns the items from "cherry" to the end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 = [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200"/>
            </a:br>
            <a:r>
              <a:rPr b="1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['cherry', 'orange', 'kiwi', 'melon', 'mango’]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</p:txBody>
      </p:sp>
      <p:graphicFrame>
        <p:nvGraphicFramePr>
          <p:cNvPr id="208" name="Google Shape;208;p18"/>
          <p:cNvGraphicFramePr/>
          <p:nvPr/>
        </p:nvGraphicFramePr>
        <p:xfrm>
          <a:off x="1695234" y="53761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orange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kiwi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mango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09" name="Google Shape;209;p18"/>
          <p:cNvGraphicFramePr/>
          <p:nvPr/>
        </p:nvGraphicFramePr>
        <p:xfrm>
          <a:off x="1695234" y="50104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" type="body"/>
          </p:nvPr>
        </p:nvSpPr>
        <p:spPr>
          <a:xfrm>
            <a:off x="503433" y="780837"/>
            <a:ext cx="11589249" cy="40480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Range of Negative Indexes: </a:t>
            </a:r>
            <a:r>
              <a:rPr lang="en-US" sz="2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Specify negative indexes if you want to start the search from the end of the tuple, returns the items from "orange" (-4) to, but NOT including "mango" (-1)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mylist=[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200"/>
            </a:br>
            <a:r>
              <a:rPr b="1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(mylist[-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:-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['orange', 'kiwi', 'melon']</a:t>
            </a:r>
            <a:endParaRPr/>
          </a:p>
        </p:txBody>
      </p:sp>
      <p:graphicFrame>
        <p:nvGraphicFramePr>
          <p:cNvPr id="215" name="Google Shape;215;p19"/>
          <p:cNvGraphicFramePr/>
          <p:nvPr/>
        </p:nvGraphicFramePr>
        <p:xfrm>
          <a:off x="1695234" y="53761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orange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kiwi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mango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16" name="Google Shape;216;p19"/>
          <p:cNvGraphicFramePr/>
          <p:nvPr/>
        </p:nvGraphicFramePr>
        <p:xfrm>
          <a:off x="1695234" y="50104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217" name="Google Shape;217;p19"/>
          <p:cNvGraphicFramePr/>
          <p:nvPr/>
        </p:nvGraphicFramePr>
        <p:xfrm>
          <a:off x="1695234" y="63944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 txBox="1"/>
          <p:nvPr>
            <p:ph idx="1" type="body"/>
          </p:nvPr>
        </p:nvSpPr>
        <p:spPr>
          <a:xfrm>
            <a:off x="421240" y="625288"/>
            <a:ext cx="11168677" cy="3882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item value: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Change the second item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thislist = [</a:t>
            </a:r>
            <a:r>
              <a:rPr b="1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/>
            </a:br>
            <a:r>
              <a:rPr b="1" lang="en-US"/>
              <a:t>	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thislist[</a:t>
            </a:r>
            <a:r>
              <a:rPr b="1" lang="en-US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 </a:t>
            </a:r>
            <a:r>
              <a:rPr b="1" lang="en-US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"blackcurrant"</a:t>
            </a:r>
            <a:br>
              <a:rPr b="1" lang="en-US"/>
            </a:br>
            <a:r>
              <a:rPr b="1" lang="en-US"/>
              <a:t>	</a:t>
            </a:r>
            <a:r>
              <a:rPr b="1" lang="en-US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(thislist)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["apple", "blackcurrant", "cherry"]</a:t>
            </a:r>
            <a:endParaRPr sz="4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23" name="Google Shape;223;p20"/>
          <p:cNvGraphicFramePr/>
          <p:nvPr/>
        </p:nvGraphicFramePr>
        <p:xfrm>
          <a:off x="671242" y="5223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4" name="Google Shape;224;p20"/>
          <p:cNvGraphicFramePr/>
          <p:nvPr/>
        </p:nvGraphicFramePr>
        <p:xfrm>
          <a:off x="671242" y="48498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25" name="Google Shape;225;p20"/>
          <p:cNvSpPr/>
          <p:nvPr/>
        </p:nvSpPr>
        <p:spPr>
          <a:xfrm>
            <a:off x="4202616" y="5543168"/>
            <a:ext cx="1992702" cy="36987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20"/>
          <p:cNvGraphicFramePr/>
          <p:nvPr/>
        </p:nvGraphicFramePr>
        <p:xfrm>
          <a:off x="6287786" y="52156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800250"/>
                <a:gridCol w="1800250"/>
                <a:gridCol w="180025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blackcurrant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27" name="Google Shape;227;p20"/>
          <p:cNvGraphicFramePr/>
          <p:nvPr/>
        </p:nvGraphicFramePr>
        <p:xfrm>
          <a:off x="6287786" y="485820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800250"/>
                <a:gridCol w="1800250"/>
                <a:gridCol w="180025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/>
          <p:nvPr>
            <p:ph idx="1" type="body"/>
          </p:nvPr>
        </p:nvSpPr>
        <p:spPr>
          <a:xfrm>
            <a:off x="339047" y="708917"/>
            <a:ext cx="11691991" cy="46439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i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a range of item values: To change the value of items within a specific range, define a list with the new values, and refer to the range of index numbers where you want to insert the new values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Change the values "banana" and "cherry" with the values "blackcurrant" and "watermelon"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thislist = [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400"/>
            </a:b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thislist[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[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"blackcurrant"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"watermelon"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400"/>
            </a:b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(thislist)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["apple", "blackcurrant",  "watermelon", "orange", "kiwi", "mango"]</a:t>
            </a:r>
            <a:endParaRPr sz="2200"/>
          </a:p>
        </p:txBody>
      </p:sp>
      <p:graphicFrame>
        <p:nvGraphicFramePr>
          <p:cNvPr id="233" name="Google Shape;233;p21"/>
          <p:cNvGraphicFramePr/>
          <p:nvPr/>
        </p:nvGraphicFramePr>
        <p:xfrm>
          <a:off x="339046" y="47683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orange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kiwi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mango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4" name="Google Shape;234;p21"/>
          <p:cNvGraphicFramePr/>
          <p:nvPr/>
        </p:nvGraphicFramePr>
        <p:xfrm>
          <a:off x="339046" y="440508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290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35" name="Google Shape;235;p21"/>
          <p:cNvSpPr/>
          <p:nvPr/>
        </p:nvSpPr>
        <p:spPr>
          <a:xfrm rot="5400000">
            <a:off x="4081990" y="5494695"/>
            <a:ext cx="1185492" cy="647272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21"/>
          <p:cNvGraphicFramePr/>
          <p:nvPr/>
        </p:nvGraphicFramePr>
        <p:xfrm>
          <a:off x="4998372" y="58854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986800"/>
                <a:gridCol w="986800"/>
                <a:gridCol w="986800"/>
                <a:gridCol w="986800"/>
                <a:gridCol w="986800"/>
                <a:gridCol w="986800"/>
                <a:gridCol w="9868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black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currant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watermelon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orange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kiwi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mango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7" name="Google Shape;237;p21"/>
          <p:cNvGraphicFramePr/>
          <p:nvPr/>
        </p:nvGraphicFramePr>
        <p:xfrm>
          <a:off x="4998372" y="54974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986800"/>
                <a:gridCol w="986800"/>
                <a:gridCol w="986800"/>
                <a:gridCol w="986800"/>
                <a:gridCol w="986800"/>
                <a:gridCol w="986800"/>
                <a:gridCol w="986800"/>
              </a:tblGrid>
              <a:tr h="290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idx="1" type="body"/>
          </p:nvPr>
        </p:nvSpPr>
        <p:spPr>
          <a:xfrm>
            <a:off x="483826" y="730657"/>
            <a:ext cx="10987835" cy="600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a range of item values: </a:t>
            </a: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you insert more items than you replace, the new items will be inserted where you specified, and the remaining items will move accordingly</a:t>
            </a:r>
            <a:endParaRPr b="1" i="1" sz="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Change the second item value by replacing it with two new values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thislist = [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400"/>
            </a:br>
            <a:r>
              <a:rPr b="1" lang="en-US" sz="2400"/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thislist[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[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"blackcurrant"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"watermelon"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400"/>
            </a:br>
            <a:r>
              <a:rPr b="1" lang="en-US" sz="2400"/>
              <a:t>	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(thislist) 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["apple", "blackcurrant", "watermelon", "cherry"]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43" name="Google Shape;243;p22"/>
          <p:cNvGraphicFramePr/>
          <p:nvPr/>
        </p:nvGraphicFramePr>
        <p:xfrm>
          <a:off x="671242" y="48498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244" name="Google Shape;244;p22"/>
          <p:cNvGraphicFramePr/>
          <p:nvPr/>
        </p:nvGraphicFramePr>
        <p:xfrm>
          <a:off x="671242" y="5223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5" name="Google Shape;245;p22"/>
          <p:cNvGraphicFramePr/>
          <p:nvPr/>
        </p:nvGraphicFramePr>
        <p:xfrm>
          <a:off x="6976153" y="5223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70725"/>
                <a:gridCol w="1170725"/>
                <a:gridCol w="1170725"/>
                <a:gridCol w="1170725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black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currant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watermelon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46" name="Google Shape;246;p22"/>
          <p:cNvGraphicFramePr/>
          <p:nvPr/>
        </p:nvGraphicFramePr>
        <p:xfrm>
          <a:off x="6976152" y="48498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70725"/>
                <a:gridCol w="1170725"/>
                <a:gridCol w="1170725"/>
                <a:gridCol w="1170725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47" name="Google Shape;247;p22"/>
          <p:cNvSpPr/>
          <p:nvPr/>
        </p:nvSpPr>
        <p:spPr>
          <a:xfrm>
            <a:off x="4202615" y="5543168"/>
            <a:ext cx="2681069" cy="36987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>
            <p:ph idx="1" type="body"/>
          </p:nvPr>
        </p:nvSpPr>
        <p:spPr>
          <a:xfrm>
            <a:off x="308225" y="832207"/>
            <a:ext cx="11661167" cy="5619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 a range of item values:</a:t>
            </a:r>
            <a:endParaRPr b="1" i="1"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Change the second and third value by replacing it with one value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thislist = [</a:t>
            </a:r>
            <a:r>
              <a:rPr b="1" lang="en-US" sz="2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800"/>
            </a:br>
            <a:r>
              <a:rPr b="1" lang="en-US" sz="2800"/>
              <a:t>	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thislist[</a:t>
            </a:r>
            <a:r>
              <a:rPr b="1" lang="en-US" sz="2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2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 [</a:t>
            </a:r>
            <a:r>
              <a:rPr b="1" lang="en-US" sz="2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"watermelon"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br>
              <a:rPr b="1" lang="en-US" sz="2800"/>
            </a:br>
            <a:r>
              <a:rPr b="1" lang="en-US" sz="2800"/>
              <a:t>	</a:t>
            </a:r>
            <a:r>
              <a:rPr b="1" lang="en-US" sz="2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(thislist)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["apple", "watermelon"]</a:t>
            </a:r>
            <a:endParaRPr/>
          </a:p>
        </p:txBody>
      </p:sp>
      <p:graphicFrame>
        <p:nvGraphicFramePr>
          <p:cNvPr id="253" name="Google Shape;253;p23"/>
          <p:cNvGraphicFramePr/>
          <p:nvPr/>
        </p:nvGraphicFramePr>
        <p:xfrm>
          <a:off x="671242" y="5223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4" name="Google Shape;254;p23"/>
          <p:cNvGraphicFramePr/>
          <p:nvPr/>
        </p:nvGraphicFramePr>
        <p:xfrm>
          <a:off x="671242" y="48498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255" name="Google Shape;255;p23"/>
          <p:cNvGraphicFramePr/>
          <p:nvPr/>
        </p:nvGraphicFramePr>
        <p:xfrm>
          <a:off x="7265536" y="52301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869050"/>
                <a:gridCol w="186905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Watermelon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6" name="Google Shape;256;p23"/>
          <p:cNvGraphicFramePr/>
          <p:nvPr/>
        </p:nvGraphicFramePr>
        <p:xfrm>
          <a:off x="7265538" y="48498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869050"/>
                <a:gridCol w="186905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57" name="Google Shape;257;p23"/>
          <p:cNvSpPr/>
          <p:nvPr/>
        </p:nvSpPr>
        <p:spPr>
          <a:xfrm>
            <a:off x="4202615" y="5543168"/>
            <a:ext cx="2979021" cy="36987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"/>
          <p:cNvSpPr txBox="1"/>
          <p:nvPr>
            <p:ph type="title"/>
          </p:nvPr>
        </p:nvSpPr>
        <p:spPr>
          <a:xfrm>
            <a:off x="838200" y="832207"/>
            <a:ext cx="10515600" cy="7191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latin typeface="Calibri"/>
                <a:ea typeface="Calibri"/>
                <a:cs typeface="Calibri"/>
                <a:sym typeface="Calibri"/>
              </a:rPr>
              <a:t>Python has a set of built-in methods that you can use on lists</a:t>
            </a:r>
            <a:endParaRPr b="1" sz="32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3" name="Google Shape;263;p24"/>
          <p:cNvGraphicFramePr/>
          <p:nvPr/>
        </p:nvGraphicFramePr>
        <p:xfrm>
          <a:off x="575354" y="16335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{23BA5346-CD9C-46AB-B7E7-C429F22DA3A7}</a:tableStyleId>
              </a:tblPr>
              <a:tblGrid>
                <a:gridCol w="1604275"/>
                <a:gridCol w="9347975"/>
              </a:tblGrid>
              <a:tr h="3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Method</a:t>
                      </a:r>
                      <a:endParaRPr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/>
                        <a:t>Description</a:t>
                      </a:r>
                      <a:endParaRPr/>
                    </a:p>
                  </a:txBody>
                  <a:tcPr marT="55775" marB="55775" marR="55775" marL="55775"/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3"/>
                        </a:rPr>
                        <a:t>append()</a:t>
                      </a:r>
                      <a:endParaRPr sz="2000" u="none" cap="none" strike="noStrike"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Adds an element at the end of the list</a:t>
                      </a:r>
                      <a:endParaRPr/>
                    </a:p>
                  </a:txBody>
                  <a:tcPr marT="55775" marB="55775" marR="55775" marL="55775"/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4"/>
                        </a:rPr>
                        <a:t>insert()</a:t>
                      </a:r>
                      <a:endParaRPr sz="2000" u="none" cap="none" strike="noStrike"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Adds an element at the specified position</a:t>
                      </a:r>
                      <a:endParaRPr/>
                    </a:p>
                  </a:txBody>
                  <a:tcPr marT="55775" marB="55775" marR="55775" marL="55775"/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5"/>
                        </a:rPr>
                        <a:t>extend()</a:t>
                      </a:r>
                      <a:endParaRPr sz="2000" u="none" cap="none" strike="noStrike"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Add the elements of a list (or any iterable), to the end of the current list</a:t>
                      </a:r>
                      <a:endParaRPr/>
                    </a:p>
                  </a:txBody>
                  <a:tcPr marT="55775" marB="55775" marR="55775" marL="55775"/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6"/>
                        </a:rPr>
                        <a:t>clear()</a:t>
                      </a:r>
                      <a:endParaRPr sz="2000" u="none" cap="none" strike="noStrike"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Removes all the elements from the list</a:t>
                      </a:r>
                      <a:endParaRPr/>
                    </a:p>
                  </a:txBody>
                  <a:tcPr marT="55775" marB="55775" marR="55775" marL="55775"/>
                </a:tc>
              </a:tr>
              <a:tr h="40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7"/>
                        </a:rPr>
                        <a:t>count()</a:t>
                      </a:r>
                      <a:endParaRPr sz="2000" u="none" cap="none" strike="noStrike"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Returns the number of elements with the specified value</a:t>
                      </a:r>
                      <a:endParaRPr/>
                    </a:p>
                  </a:txBody>
                  <a:tcPr marT="55775" marB="55775" marR="55775" marL="55775"/>
                </a:tc>
              </a:tr>
              <a:tr h="37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8"/>
                        </a:rPr>
                        <a:t>index()</a:t>
                      </a:r>
                      <a:endParaRPr sz="2000" u="none" cap="none" strike="noStrike"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Returns the index of the first element with the specified value</a:t>
                      </a:r>
                      <a:endParaRPr/>
                    </a:p>
                  </a:txBody>
                  <a:tcPr marT="55775" marB="55775" marR="55775" marL="55775"/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9"/>
                        </a:rPr>
                        <a:t>pop()</a:t>
                      </a:r>
                      <a:endParaRPr sz="2000" u="none" cap="none" strike="noStrike"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Removes the element at the specified position</a:t>
                      </a:r>
                      <a:endParaRPr/>
                    </a:p>
                  </a:txBody>
                  <a:tcPr marT="55775" marB="55775" marR="55775" marL="55775"/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10"/>
                        </a:rPr>
                        <a:t>remove()</a:t>
                      </a:r>
                      <a:endParaRPr sz="2000" u="none" cap="none" strike="noStrike"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Removes the first item with the specified value</a:t>
                      </a:r>
                      <a:endParaRPr/>
                    </a:p>
                  </a:txBody>
                  <a:tcPr marT="55775" marB="55775" marR="55775" marL="55775"/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11"/>
                        </a:rPr>
                        <a:t>copy()</a:t>
                      </a:r>
                      <a:endParaRPr sz="2000" u="none" cap="none" strike="noStrike"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u="none" cap="none" strike="noStrike"/>
                        <a:t>Returns a copy of the list</a:t>
                      </a:r>
                      <a:endParaRPr/>
                    </a:p>
                  </a:txBody>
                  <a:tcPr marT="55775" marB="55775" marR="55775" marL="55775"/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12"/>
                        </a:rPr>
                        <a:t>reverse()</a:t>
                      </a:r>
                      <a:endParaRPr sz="2000" u="none" cap="none" strike="noStrike"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Reverses the order of the list</a:t>
                      </a:r>
                      <a:endParaRPr/>
                    </a:p>
                  </a:txBody>
                  <a:tcPr marT="55775" marB="55775" marR="55775" marL="55775"/>
                </a:tc>
              </a:tr>
              <a:tr h="34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sng" cap="none" strike="noStrike">
                          <a:solidFill>
                            <a:schemeClr val="hlink"/>
                          </a:solidFill>
                          <a:hlinkClick r:id="rId13"/>
                        </a:rPr>
                        <a:t>sort()</a:t>
                      </a:r>
                      <a:endParaRPr sz="2000" u="none" cap="none" strike="noStrike"/>
                    </a:p>
                  </a:txBody>
                  <a:tcPr marT="55775" marB="55775" marR="55775" marL="111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Sorts the list</a:t>
                      </a:r>
                      <a:endParaRPr/>
                    </a:p>
                  </a:txBody>
                  <a:tcPr marT="55775" marB="55775" marR="55775" marL="5577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"/>
          <p:cNvSpPr txBox="1"/>
          <p:nvPr>
            <p:ph idx="1" type="body"/>
          </p:nvPr>
        </p:nvSpPr>
        <p:spPr>
          <a:xfrm>
            <a:off x="838200" y="739739"/>
            <a:ext cx="10515600" cy="5437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append()</a:t>
            </a:r>
            <a:r>
              <a:rPr lang="en-US"/>
              <a:t> - The append() method appends an element to the end of the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Syntax: 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.append(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elmnt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u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Example: Add an element to list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US" sz="2600"/>
              <a:t>a = ["apple", "banana", "cherry"]                a = ["apple", "banana", "cherry"]</a:t>
            </a:r>
            <a:br>
              <a:rPr b="1" lang="en-US" sz="2600"/>
            </a:br>
            <a:r>
              <a:rPr b="1" lang="en-US" sz="2600"/>
              <a:t>b = “watermelon”			     OR     a.append(“watermelon”)</a:t>
            </a:r>
            <a:br>
              <a:rPr b="1" lang="en-US" sz="2600"/>
            </a:br>
            <a:r>
              <a:rPr b="1" lang="en-US" sz="2600"/>
              <a:t>a.append(b)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['apple', 'banana', 'cherry', ‘watermelon']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269" name="Google Shape;269;p25"/>
          <p:cNvGraphicFramePr/>
          <p:nvPr/>
        </p:nvGraphicFramePr>
        <p:xfrm>
          <a:off x="1125876" y="2192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{EAC7BC0C-FBEC-469B-B0C9-CF68428DB30A}</a:tableStyleId>
              </a:tblPr>
              <a:tblGrid>
                <a:gridCol w="786675"/>
                <a:gridCol w="7231450"/>
              </a:tblGrid>
              <a:tr h="39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elmnt</a:t>
                      </a:r>
                      <a:endParaRPr sz="1800" u="none" cap="none" strike="noStrike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Required. An element of any type (string, number, object etc.)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cxnSp>
        <p:nvCxnSpPr>
          <p:cNvPr id="270" name="Google Shape;270;p25"/>
          <p:cNvCxnSpPr/>
          <p:nvPr/>
        </p:nvCxnSpPr>
        <p:spPr>
          <a:xfrm>
            <a:off x="5712431" y="3667874"/>
            <a:ext cx="0" cy="98631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1" name="Google Shape;271;p25"/>
          <p:cNvCxnSpPr/>
          <p:nvPr/>
        </p:nvCxnSpPr>
        <p:spPr>
          <a:xfrm>
            <a:off x="6450458" y="3667874"/>
            <a:ext cx="0" cy="986319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6"/>
          <p:cNvSpPr txBox="1"/>
          <p:nvPr>
            <p:ph type="title"/>
          </p:nvPr>
        </p:nvSpPr>
        <p:spPr>
          <a:xfrm>
            <a:off x="838200" y="500062"/>
            <a:ext cx="10515600" cy="2407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extend() method - adds the specified list elements (or any iterable) to the end of the current list.</a:t>
            </a:r>
            <a:br>
              <a:rPr b="1" i="1"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b="1" i="1" lang="en-US" sz="2800">
                <a:latin typeface="Consolas"/>
                <a:ea typeface="Consolas"/>
                <a:cs typeface="Consolas"/>
                <a:sym typeface="Consolas"/>
              </a:rPr>
              <a:t>list.extend(iterable)</a:t>
            </a:r>
            <a:br>
              <a:rPr b="1" i="1" lang="en-US" sz="2800">
                <a:latin typeface="Consolas"/>
                <a:ea typeface="Consolas"/>
                <a:cs typeface="Consolas"/>
                <a:sym typeface="Consolas"/>
              </a:rPr>
            </a:br>
            <a:endParaRPr b="1" i="1" sz="2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" name="Google Shape;277;p26"/>
          <p:cNvSpPr txBox="1"/>
          <p:nvPr>
            <p:ph idx="1" type="body"/>
          </p:nvPr>
        </p:nvSpPr>
        <p:spPr>
          <a:xfrm>
            <a:off x="838200" y="2962847"/>
            <a:ext cx="10515600" cy="3546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a = ["apple", "banana", "cherry"]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b = ["Ford", "BMW", "Volvo"]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a.extend(b)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print(a)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['apple', 'banana', 'cherry', 'Ford', 'BMW', 'Volvo']</a:t>
            </a:r>
            <a:endParaRPr b="1"/>
          </a:p>
        </p:txBody>
      </p:sp>
      <p:graphicFrame>
        <p:nvGraphicFramePr>
          <p:cNvPr id="278" name="Google Shape;278;p26"/>
          <p:cNvGraphicFramePr/>
          <p:nvPr/>
        </p:nvGraphicFramePr>
        <p:xfrm>
          <a:off x="910976" y="23165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{EAC7BC0C-FBEC-469B-B0C9-CF68428DB30A}</a:tableStyleId>
              </a:tblPr>
              <a:tblGrid>
                <a:gridCol w="1170400"/>
                <a:gridCol w="5459850"/>
              </a:tblGrid>
              <a:tr h="42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iterable</a:t>
                      </a:r>
                      <a:endParaRPr sz="1800" u="none" cap="none" strike="noStrike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Required. Any iterable (list, set, tuple, etc.)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sp>
        <p:nvSpPr>
          <p:cNvPr id="279" name="Google Shape;279;p26"/>
          <p:cNvSpPr/>
          <p:nvPr/>
        </p:nvSpPr>
        <p:spPr>
          <a:xfrm>
            <a:off x="1485471" y="1929774"/>
            <a:ext cx="96722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"/>
          <p:cNvSpPr txBox="1"/>
          <p:nvPr>
            <p:ph idx="1" type="body"/>
          </p:nvPr>
        </p:nvSpPr>
        <p:spPr>
          <a:xfrm>
            <a:off x="603528" y="753035"/>
            <a:ext cx="10987835" cy="5902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insert() - The insert() method inserts an item at the specified index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.insert(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elmnt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 u="none" strike="noStrike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</a:pPr>
            <a:r>
              <a:t/>
            </a:r>
            <a:endParaRPr b="1" i="1" sz="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vowels=['a','i','o','u']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	print("old list =",vowels)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vowels.insert(1,'e')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print("new list =",vowels)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old list = ['a', 'i', 'o', 'u']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onsolas"/>
                <a:ea typeface="Consolas"/>
                <a:cs typeface="Consolas"/>
                <a:sym typeface="Consolas"/>
              </a:rPr>
              <a:t>	new list = ['a', 'e', 'i', 'o', 'u']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</p:txBody>
      </p:sp>
      <p:graphicFrame>
        <p:nvGraphicFramePr>
          <p:cNvPr id="285" name="Google Shape;285;p27"/>
          <p:cNvGraphicFramePr/>
          <p:nvPr/>
        </p:nvGraphicFramePr>
        <p:xfrm>
          <a:off x="8465902" y="31798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752575"/>
                <a:gridCol w="752575"/>
                <a:gridCol w="752575"/>
                <a:gridCol w="7525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i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u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6" name="Google Shape;286;p27"/>
          <p:cNvGraphicFramePr/>
          <p:nvPr/>
        </p:nvGraphicFramePr>
        <p:xfrm>
          <a:off x="8465902" y="28385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752575"/>
                <a:gridCol w="752575"/>
                <a:gridCol w="752575"/>
                <a:gridCol w="752575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287" name="Google Shape;287;p27"/>
          <p:cNvGraphicFramePr/>
          <p:nvPr/>
        </p:nvGraphicFramePr>
        <p:xfrm>
          <a:off x="8465900" y="46890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602075"/>
                <a:gridCol w="602075"/>
                <a:gridCol w="602075"/>
                <a:gridCol w="602075"/>
                <a:gridCol w="60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i</a:t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u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88" name="Google Shape;288;p27"/>
          <p:cNvGraphicFramePr/>
          <p:nvPr/>
        </p:nvGraphicFramePr>
        <p:xfrm>
          <a:off x="8465900" y="43232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602075"/>
                <a:gridCol w="602075"/>
                <a:gridCol w="602075"/>
                <a:gridCol w="602075"/>
                <a:gridCol w="602075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289" name="Google Shape;289;p27"/>
          <p:cNvGraphicFramePr/>
          <p:nvPr/>
        </p:nvGraphicFramePr>
        <p:xfrm>
          <a:off x="715770" y="18282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{EAC7BC0C-FBEC-469B-B0C9-CF68428DB30A}</a:tableStyleId>
              </a:tblPr>
              <a:tblGrid>
                <a:gridCol w="892000"/>
                <a:gridCol w="6813175"/>
              </a:tblGrid>
              <a:tr h="463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pos</a:t>
                      </a:r>
                      <a:endParaRPr sz="1800" u="none" cap="none" strike="noStrike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Required. A number specifying in which position to insert the value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431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elmnt</a:t>
                      </a:r>
                      <a:endParaRPr sz="1800" u="none" cap="none" strike="noStrike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Required. An element of any type (string, number, object etc.)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27"/>
          <p:cNvSpPr/>
          <p:nvPr/>
        </p:nvSpPr>
        <p:spPr>
          <a:xfrm>
            <a:off x="9708776" y="3637019"/>
            <a:ext cx="262289" cy="68625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838200" y="1222624"/>
            <a:ext cx="10515600" cy="842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 sz="3100">
                <a:latin typeface="Times New Roman"/>
                <a:ea typeface="Times New Roman"/>
                <a:cs typeface="Times New Roman"/>
                <a:sym typeface="Times New Roman"/>
              </a:rPr>
              <a:t>clear()</a:t>
            </a:r>
            <a:r>
              <a:rPr b="1" i="0" lang="en-US" sz="3100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 method - removes all the elements from a list.</a:t>
            </a:r>
            <a:br>
              <a:rPr b="1" i="0" lang="en-US" sz="3100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3100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b="1" i="0" lang="en-US" sz="28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list.clear()</a:t>
            </a:r>
            <a:br>
              <a:rPr b="1" i="0" lang="en-US" sz="28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br>
              <a:rPr b="1" i="0" lang="en-US" sz="2800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838200" y="2373329"/>
            <a:ext cx="10515600" cy="4171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list1=[1,2,3,4,5]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print(list1)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list1.clear()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print(list1)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[1, 2, 3, 4, 5]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[ ]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 txBox="1"/>
          <p:nvPr>
            <p:ph type="title"/>
          </p:nvPr>
        </p:nvSpPr>
        <p:spPr>
          <a:xfrm>
            <a:off x="838200" y="493160"/>
            <a:ext cx="10515600" cy="119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count()</a:t>
            </a:r>
            <a:r>
              <a:rPr b="1" i="1" lang="en-US" sz="3200" u="none" strike="noStrike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 method - returns the number of elements with the specified value</a:t>
            </a:r>
            <a:endParaRPr b="1" i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9"/>
          <p:cNvSpPr txBox="1"/>
          <p:nvPr>
            <p:ph idx="1" type="body"/>
          </p:nvPr>
        </p:nvSpPr>
        <p:spPr>
          <a:xfrm>
            <a:off x="838200" y="1825624"/>
            <a:ext cx="10515600" cy="481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Syntax: 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.count(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points = [1, 4, 2, 9, 7, 8, 9, 3, 1]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x = points.count(9)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print(x)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</a:t>
            </a:r>
            <a:endParaRPr b="1"/>
          </a:p>
        </p:txBody>
      </p:sp>
      <p:graphicFrame>
        <p:nvGraphicFramePr>
          <p:cNvPr id="303" name="Google Shape;303;p29"/>
          <p:cNvGraphicFramePr/>
          <p:nvPr/>
        </p:nvGraphicFramePr>
        <p:xfrm>
          <a:off x="992312" y="25110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{EAC7BC0C-FBEC-469B-B0C9-CF68428DB30A}</a:tableStyleId>
              </a:tblPr>
              <a:tblGrid>
                <a:gridCol w="813025"/>
                <a:gridCol w="7729075"/>
              </a:tblGrid>
              <a:tr h="41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value</a:t>
                      </a:r>
                      <a:endParaRPr sz="1800" u="none" cap="none" strike="noStrike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Required. Any type (string, number, list, tuple, etc.). The value to search for.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0"/>
          <p:cNvSpPr txBox="1"/>
          <p:nvPr>
            <p:ph type="title"/>
          </p:nvPr>
        </p:nvSpPr>
        <p:spPr>
          <a:xfrm>
            <a:off x="838200" y="725281"/>
            <a:ext cx="10515600" cy="1197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index() method - returns the index at the first occurrence of the specified value. If the element is not found it valueerror exception is thrown.</a:t>
            </a:r>
            <a:endParaRPr b="1" i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30"/>
          <p:cNvSpPr txBox="1"/>
          <p:nvPr>
            <p:ph idx="1" type="body"/>
          </p:nvPr>
        </p:nvSpPr>
        <p:spPr>
          <a:xfrm>
            <a:off x="838200" y="2046519"/>
            <a:ext cx="10515600" cy="4811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Syntax: 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.index(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elmnt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list1=[4, 55, 64, 32, 16, 32]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x = list1.index(32)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print(x)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3</a:t>
            </a:r>
            <a:endParaRPr b="1"/>
          </a:p>
        </p:txBody>
      </p:sp>
      <p:graphicFrame>
        <p:nvGraphicFramePr>
          <p:cNvPr id="310" name="Google Shape;310;p30"/>
          <p:cNvGraphicFramePr/>
          <p:nvPr/>
        </p:nvGraphicFramePr>
        <p:xfrm>
          <a:off x="966728" y="25694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{EAC7BC0C-FBEC-469B-B0C9-CF68428DB30A}</a:tableStyleId>
              </a:tblPr>
              <a:tblGrid>
                <a:gridCol w="913550"/>
                <a:gridCol w="7330600"/>
              </a:tblGrid>
              <a:tr h="417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elmnt</a:t>
                      </a:r>
                      <a:endParaRPr sz="1800" u="none" cap="none" strike="noStrike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Required. Any type (string, number, list, etc.). The element to search for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1" name="Google Shape;311;p30"/>
          <p:cNvGraphicFramePr/>
          <p:nvPr/>
        </p:nvGraphicFramePr>
        <p:xfrm>
          <a:off x="7520683" y="50422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602750"/>
                <a:gridCol w="602750"/>
                <a:gridCol w="602750"/>
                <a:gridCol w="602750"/>
                <a:gridCol w="602750"/>
                <a:gridCol w="602750"/>
              </a:tblGrid>
              <a:tr h="570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55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64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2" name="Google Shape;312;p30"/>
          <p:cNvGraphicFramePr/>
          <p:nvPr/>
        </p:nvGraphicFramePr>
        <p:xfrm>
          <a:off x="7520683" y="46765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602750"/>
                <a:gridCol w="602750"/>
                <a:gridCol w="602750"/>
                <a:gridCol w="602750"/>
                <a:gridCol w="602750"/>
                <a:gridCol w="60275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"/>
          <p:cNvSpPr txBox="1"/>
          <p:nvPr>
            <p:ph idx="1" type="body"/>
          </p:nvPr>
        </p:nvSpPr>
        <p:spPr>
          <a:xfrm>
            <a:off x="304796" y="771467"/>
            <a:ext cx="11297123" cy="5607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pop() method removes the element at the specified position.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.pop(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 Element at the Given Index from the List:</a:t>
            </a:r>
            <a:endParaRPr b="1" i="1"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language = ['Python', 'Java', 'C++', 'French', 'C’]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print(‘Old  List: ', language)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	value = language.pop(3)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print(‘Popped Value: ', value)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print('Updated  List: ', language)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Old List = ['Python', 'Java', 'C++', 'French', 'C’]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Popped Value: French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Updated List: ['Python', 'Java', 'C++', 'C']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</p:txBody>
      </p:sp>
      <p:graphicFrame>
        <p:nvGraphicFramePr>
          <p:cNvPr id="318" name="Google Shape;318;p31"/>
          <p:cNvGraphicFramePr/>
          <p:nvPr/>
        </p:nvGraphicFramePr>
        <p:xfrm>
          <a:off x="614084" y="19791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{EAC7BC0C-FBEC-469B-B0C9-CF68428DB30A}</a:tableStyleId>
              </a:tblPr>
              <a:tblGrid>
                <a:gridCol w="722975"/>
                <a:gridCol w="9313525"/>
              </a:tblGrid>
              <a:tr h="46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pos</a:t>
                      </a:r>
                      <a:endParaRPr sz="1800" u="none" cap="none" strike="noStrike"/>
                    </a:p>
                  </a:txBody>
                  <a:tcPr marT="76200" marB="76200" marR="76200" marL="1524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Optional. A number specifying the position of the element you want to remove, default value is -1, which returns the last item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Google Shape;319;p31"/>
          <p:cNvGraphicFramePr/>
          <p:nvPr/>
        </p:nvGraphicFramePr>
        <p:xfrm>
          <a:off x="6588857" y="45112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15775"/>
                <a:gridCol w="1115775"/>
                <a:gridCol w="1115775"/>
                <a:gridCol w="1115775"/>
                <a:gridCol w="1115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Python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Java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C++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French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20" name="Google Shape;320;p31"/>
          <p:cNvGraphicFramePr/>
          <p:nvPr/>
        </p:nvGraphicFramePr>
        <p:xfrm>
          <a:off x="6588857" y="41352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15775"/>
                <a:gridCol w="1115775"/>
                <a:gridCol w="1115775"/>
                <a:gridCol w="1115775"/>
                <a:gridCol w="1115775"/>
              </a:tblGrid>
              <a:tr h="23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21" name="Google Shape;321;p31"/>
          <p:cNvSpPr/>
          <p:nvPr/>
        </p:nvSpPr>
        <p:spPr>
          <a:xfrm>
            <a:off x="9234803" y="4978716"/>
            <a:ext cx="286978" cy="77804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2" name="Google Shape;322;p31"/>
          <p:cNvGraphicFramePr/>
          <p:nvPr/>
        </p:nvGraphicFramePr>
        <p:xfrm>
          <a:off x="7146744" y="57567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15775"/>
                <a:gridCol w="1115775"/>
                <a:gridCol w="1115775"/>
                <a:gridCol w="1115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Python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Java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C++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/>
          <p:nvPr>
            <p:ph idx="1" type="body"/>
          </p:nvPr>
        </p:nvSpPr>
        <p:spPr>
          <a:xfrm>
            <a:off x="643869" y="981634"/>
            <a:ext cx="10987835" cy="5607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pop() when index is not passed: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b="1" i="1" sz="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language = ['Python', 'Java', 'C++', 'C']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print(‘Popped Value: ', language.pop())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print('Updated List: ', language)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print(‘Popped Value: ', language.pop(-1))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print('Updated List: ', language)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Popped Value: C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Updated List: ['Python', 'Java', 'C++’]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Popped Value: C++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List:  ['Python', 'Java']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</p:txBody>
      </p:sp>
      <p:graphicFrame>
        <p:nvGraphicFramePr>
          <p:cNvPr id="328" name="Google Shape;328;p32"/>
          <p:cNvGraphicFramePr/>
          <p:nvPr/>
        </p:nvGraphicFramePr>
        <p:xfrm>
          <a:off x="7240527" y="13127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15775"/>
                <a:gridCol w="1115775"/>
                <a:gridCol w="1115775"/>
                <a:gridCol w="1115775"/>
              </a:tblGrid>
              <a:tr h="423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Python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Java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C++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9" name="Google Shape;329;p32"/>
          <p:cNvSpPr/>
          <p:nvPr/>
        </p:nvSpPr>
        <p:spPr>
          <a:xfrm>
            <a:off x="9185097" y="1769945"/>
            <a:ext cx="286978" cy="83969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0" name="Google Shape;330;p32"/>
          <p:cNvGraphicFramePr/>
          <p:nvPr/>
        </p:nvGraphicFramePr>
        <p:xfrm>
          <a:off x="7675122" y="264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15775"/>
                <a:gridCol w="1115775"/>
                <a:gridCol w="1115775"/>
              </a:tblGrid>
              <a:tr h="423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Python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Java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C++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1" name="Google Shape;331;p32"/>
          <p:cNvSpPr/>
          <p:nvPr/>
        </p:nvSpPr>
        <p:spPr>
          <a:xfrm>
            <a:off x="9184397" y="3487050"/>
            <a:ext cx="286978" cy="83969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2" name="Google Shape;332;p32"/>
          <p:cNvGraphicFramePr/>
          <p:nvPr/>
        </p:nvGraphicFramePr>
        <p:xfrm>
          <a:off x="8212112" y="4384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15775"/>
                <a:gridCol w="1115775"/>
              </a:tblGrid>
              <a:tr h="423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Python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Java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3" name="Google Shape;333;p32"/>
          <p:cNvSpPr txBox="1"/>
          <p:nvPr/>
        </p:nvSpPr>
        <p:spPr>
          <a:xfrm>
            <a:off x="9338859" y="1998659"/>
            <a:ext cx="82193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pop()</a:t>
            </a:r>
            <a:endParaRPr/>
          </a:p>
        </p:txBody>
      </p:sp>
      <p:sp>
        <p:nvSpPr>
          <p:cNvPr id="334" name="Google Shape;334;p32"/>
          <p:cNvSpPr txBox="1"/>
          <p:nvPr/>
        </p:nvSpPr>
        <p:spPr>
          <a:xfrm>
            <a:off x="9327886" y="3686295"/>
            <a:ext cx="103769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pop(-1)</a:t>
            </a:r>
            <a:endParaRPr/>
          </a:p>
        </p:txBody>
      </p:sp>
      <p:graphicFrame>
        <p:nvGraphicFramePr>
          <p:cNvPr id="335" name="Google Shape;335;p32"/>
          <p:cNvGraphicFramePr/>
          <p:nvPr/>
        </p:nvGraphicFramePr>
        <p:xfrm>
          <a:off x="7240527" y="9152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15775"/>
                <a:gridCol w="1115775"/>
                <a:gridCol w="1115775"/>
                <a:gridCol w="1115775"/>
              </a:tblGrid>
              <a:tr h="23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336" name="Google Shape;336;p32"/>
          <p:cNvGraphicFramePr/>
          <p:nvPr/>
        </p:nvGraphicFramePr>
        <p:xfrm>
          <a:off x="7675122" y="3116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15775"/>
                <a:gridCol w="1115775"/>
                <a:gridCol w="1115775"/>
              </a:tblGrid>
              <a:tr h="236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/>
          <p:nvPr>
            <p:ph idx="1" type="body"/>
          </p:nvPr>
        </p:nvSpPr>
        <p:spPr>
          <a:xfrm>
            <a:off x="536293" y="770562"/>
            <a:ext cx="10987835" cy="591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remove( ) method: removes the first occurrence of the element with the specified value.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.remove(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elmnt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i="1" u="none" strike="noStrike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remove() method searches for the given element  in the list and removes the first matching element.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remove() method takes a single element as an  argument and removes it from the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element(argument) passed to the remove()  method doesn't exist, valueError exception is thrown.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 = [5,78,12,26,50]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	print('Original list: ', list1)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list1.remove(12)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print('Updated list elements: ', list1)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Original list:	[5, 78, 12, 26, 50]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Updated list: [5, 78, 26, 50]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</p:txBody>
      </p:sp>
      <p:graphicFrame>
        <p:nvGraphicFramePr>
          <p:cNvPr id="342" name="Google Shape;342;p33"/>
          <p:cNvGraphicFramePr/>
          <p:nvPr/>
        </p:nvGraphicFramePr>
        <p:xfrm>
          <a:off x="667871" y="21822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{EAC7BC0C-FBEC-469B-B0C9-CF68428DB30A}</a:tableStyleId>
              </a:tblPr>
              <a:tblGrid>
                <a:gridCol w="765575"/>
                <a:gridCol w="7361250"/>
              </a:tblGrid>
              <a:tr h="40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elmnt</a:t>
                      </a:r>
                      <a:endParaRPr sz="1800" u="none" cap="none" strike="noStrike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Required. Denotes the element you want to remove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"/>
          <p:cNvSpPr txBox="1"/>
          <p:nvPr>
            <p:ph idx="1" type="body"/>
          </p:nvPr>
        </p:nvSpPr>
        <p:spPr>
          <a:xfrm>
            <a:off x="603528" y="1021975"/>
            <a:ext cx="10987835" cy="5607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List: </a:t>
            </a: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list can be copied with = operator.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 with copying the list in this way is that if  you modify the new_list, the old_list is also modified.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old_list = [1, 2, 3]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new_list = old_list</a:t>
            </a:r>
            <a:endParaRPr sz="24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new_list.append('a')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print('New List:', new_list 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print('Old List:', old_list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New List: [1, 2, 3, 'a’]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Old List: [1, 2, 3, 'a']</a:t>
            </a:r>
            <a:endParaRPr/>
          </a:p>
        </p:txBody>
      </p:sp>
      <p:graphicFrame>
        <p:nvGraphicFramePr>
          <p:cNvPr id="348" name="Google Shape;348;p34"/>
          <p:cNvGraphicFramePr/>
          <p:nvPr/>
        </p:nvGraphicFramePr>
        <p:xfrm>
          <a:off x="9020707" y="34042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{9F7E38D6-8017-4926-90DF-D67E9C71E78D}</a:tableStyleId>
              </a:tblPr>
              <a:tblGrid>
                <a:gridCol w="804800"/>
                <a:gridCol w="804800"/>
                <a:gridCol w="804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49" name="Google Shape;349;p34"/>
          <p:cNvSpPr txBox="1"/>
          <p:nvPr/>
        </p:nvSpPr>
        <p:spPr>
          <a:xfrm>
            <a:off x="7189283" y="3144766"/>
            <a:ext cx="8842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old_list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4"/>
          <p:cNvSpPr txBox="1"/>
          <p:nvPr/>
        </p:nvSpPr>
        <p:spPr>
          <a:xfrm>
            <a:off x="7136159" y="3742447"/>
            <a:ext cx="9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new_list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1" name="Google Shape;351;p34"/>
          <p:cNvCxnSpPr/>
          <p:nvPr/>
        </p:nvCxnSpPr>
        <p:spPr>
          <a:xfrm>
            <a:off x="7967251" y="3336667"/>
            <a:ext cx="985681" cy="18466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2" name="Google Shape;352;p34"/>
          <p:cNvCxnSpPr/>
          <p:nvPr/>
        </p:nvCxnSpPr>
        <p:spPr>
          <a:xfrm flipH="1" rot="10800000">
            <a:off x="8073499" y="3650120"/>
            <a:ext cx="879433" cy="316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353" name="Google Shape;353;p34"/>
          <p:cNvGraphicFramePr/>
          <p:nvPr/>
        </p:nvGraphicFramePr>
        <p:xfrm>
          <a:off x="9014572" y="53340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{9F7E38D6-8017-4926-90DF-D67E9C71E78D}</a:tableStyleId>
              </a:tblPr>
              <a:tblGrid>
                <a:gridCol w="603600"/>
                <a:gridCol w="603600"/>
                <a:gridCol w="603600"/>
                <a:gridCol w="603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cxnSp>
        <p:nvCxnSpPr>
          <p:cNvPr id="354" name="Google Shape;354;p34"/>
          <p:cNvCxnSpPr/>
          <p:nvPr/>
        </p:nvCxnSpPr>
        <p:spPr>
          <a:xfrm>
            <a:off x="7974202" y="5270548"/>
            <a:ext cx="985681" cy="18466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5" name="Google Shape;355;p34"/>
          <p:cNvCxnSpPr/>
          <p:nvPr/>
        </p:nvCxnSpPr>
        <p:spPr>
          <a:xfrm flipH="1" rot="10800000">
            <a:off x="8073498" y="5564376"/>
            <a:ext cx="879433" cy="316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56" name="Google Shape;356;p34"/>
          <p:cNvSpPr txBox="1"/>
          <p:nvPr/>
        </p:nvSpPr>
        <p:spPr>
          <a:xfrm>
            <a:off x="7111230" y="5093533"/>
            <a:ext cx="8842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old_list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4"/>
          <p:cNvSpPr txBox="1"/>
          <p:nvPr/>
        </p:nvSpPr>
        <p:spPr>
          <a:xfrm>
            <a:off x="7111230" y="5696609"/>
            <a:ext cx="9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new_list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4"/>
          <p:cNvSpPr txBox="1"/>
          <p:nvPr/>
        </p:nvSpPr>
        <p:spPr>
          <a:xfrm>
            <a:off x="6534127" y="4215452"/>
            <a:ext cx="533913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appending ‘a’ to new_list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 txBox="1"/>
          <p:nvPr>
            <p:ph idx="1" type="body"/>
          </p:nvPr>
        </p:nvSpPr>
        <p:spPr>
          <a:xfrm>
            <a:off x="549740" y="1062317"/>
            <a:ext cx="11440202" cy="5607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copy( ): copy() method returns a copy of the specified list.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i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list.copy()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need the original list unchanged when the new list  is modified, you can use copy() method.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copy() method doesn't take any parameters and it returns a shallow copy of the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copy() function returns a list. It doesn't modify the  original list.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list1 = [1,2,4]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new_list = list1.copy()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new_list.append(5)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print('Old List: ', list1)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print('New List: ', new_list)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Old List: [1, 2, 4]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New List: [1, 2, 4, 5]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</p:txBody>
      </p:sp>
      <p:graphicFrame>
        <p:nvGraphicFramePr>
          <p:cNvPr id="364" name="Google Shape;364;p35"/>
          <p:cNvGraphicFramePr/>
          <p:nvPr/>
        </p:nvGraphicFramePr>
        <p:xfrm>
          <a:off x="9400013" y="29255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{9F7E38D6-8017-4926-90DF-D67E9C71E78D}</a:tableStyleId>
              </a:tblPr>
              <a:tblGrid>
                <a:gridCol w="804800"/>
                <a:gridCol w="804800"/>
                <a:gridCol w="804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cxnSp>
        <p:nvCxnSpPr>
          <p:cNvPr id="365" name="Google Shape;365;p35"/>
          <p:cNvCxnSpPr/>
          <p:nvPr/>
        </p:nvCxnSpPr>
        <p:spPr>
          <a:xfrm>
            <a:off x="8524571" y="3110987"/>
            <a:ext cx="87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6" name="Google Shape;366;p35"/>
          <p:cNvSpPr txBox="1"/>
          <p:nvPr/>
        </p:nvSpPr>
        <p:spPr>
          <a:xfrm>
            <a:off x="7999230" y="2933568"/>
            <a:ext cx="5828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list1</a:t>
            </a:r>
            <a:endParaRPr/>
          </a:p>
        </p:txBody>
      </p:sp>
      <p:cxnSp>
        <p:nvCxnSpPr>
          <p:cNvPr id="367" name="Google Shape;367;p35"/>
          <p:cNvCxnSpPr/>
          <p:nvPr/>
        </p:nvCxnSpPr>
        <p:spPr>
          <a:xfrm>
            <a:off x="8524571" y="3818191"/>
            <a:ext cx="875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8" name="Google Shape;368;p35"/>
          <p:cNvSpPr txBox="1"/>
          <p:nvPr/>
        </p:nvSpPr>
        <p:spPr>
          <a:xfrm>
            <a:off x="7591618" y="3634279"/>
            <a:ext cx="9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new_list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9" name="Google Shape;369;p35"/>
          <p:cNvGraphicFramePr/>
          <p:nvPr/>
        </p:nvGraphicFramePr>
        <p:xfrm>
          <a:off x="9400013" y="36327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{9F7E38D6-8017-4926-90DF-D67E9C71E78D}</a:tableStyleId>
              </a:tblPr>
              <a:tblGrid>
                <a:gridCol w="804800"/>
                <a:gridCol w="804800"/>
                <a:gridCol w="804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70" name="Google Shape;370;p35"/>
          <p:cNvSpPr txBox="1"/>
          <p:nvPr/>
        </p:nvSpPr>
        <p:spPr>
          <a:xfrm>
            <a:off x="8178229" y="4151241"/>
            <a:ext cx="381171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appending 5 to new_list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1" name="Google Shape;371;p35"/>
          <p:cNvGraphicFramePr/>
          <p:nvPr/>
        </p:nvGraphicFramePr>
        <p:xfrm>
          <a:off x="9383760" y="58355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{9F7E38D6-8017-4926-90DF-D67E9C71E78D}</a:tableStyleId>
              </a:tblPr>
              <a:tblGrid>
                <a:gridCol w="603600"/>
                <a:gridCol w="603600"/>
                <a:gridCol w="603600"/>
                <a:gridCol w="603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372" name="Google Shape;372;p35"/>
          <p:cNvGraphicFramePr/>
          <p:nvPr/>
        </p:nvGraphicFramePr>
        <p:xfrm>
          <a:off x="9383760" y="52482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{9F7E38D6-8017-4926-90DF-D67E9C71E78D}</a:tableStyleId>
              </a:tblPr>
              <a:tblGrid>
                <a:gridCol w="804800"/>
                <a:gridCol w="804800"/>
                <a:gridCol w="8048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73" name="Google Shape;373;p35"/>
          <p:cNvSpPr txBox="1"/>
          <p:nvPr/>
        </p:nvSpPr>
        <p:spPr>
          <a:xfrm>
            <a:off x="7795424" y="5224235"/>
            <a:ext cx="5828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list1</a:t>
            </a:r>
            <a:endParaRPr/>
          </a:p>
        </p:txBody>
      </p:sp>
      <p:cxnSp>
        <p:nvCxnSpPr>
          <p:cNvPr id="374" name="Google Shape;374;p35"/>
          <p:cNvCxnSpPr/>
          <p:nvPr/>
        </p:nvCxnSpPr>
        <p:spPr>
          <a:xfrm>
            <a:off x="8378276" y="5422361"/>
            <a:ext cx="87544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5" name="Google Shape;375;p35"/>
          <p:cNvCxnSpPr/>
          <p:nvPr/>
        </p:nvCxnSpPr>
        <p:spPr>
          <a:xfrm>
            <a:off x="8409190" y="6020984"/>
            <a:ext cx="87544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6" name="Google Shape;376;p35"/>
          <p:cNvSpPr txBox="1"/>
          <p:nvPr/>
        </p:nvSpPr>
        <p:spPr>
          <a:xfrm>
            <a:off x="7503998" y="5791074"/>
            <a:ext cx="9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new_list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6"/>
          <p:cNvSpPr txBox="1"/>
          <p:nvPr>
            <p:ph idx="1" type="body"/>
          </p:nvPr>
        </p:nvSpPr>
        <p:spPr>
          <a:xfrm>
            <a:off x="616975" y="995081"/>
            <a:ext cx="10987835" cy="5607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reverse( ) method: reverse() method reverses the order of the elements.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r>
              <a:rPr b="0" i="1" lang="en-US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0" i="0" lang="en-US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.reverse()</a:t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reverse() function doesn't return any value. It  only reverses the elements and updates the list.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i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 = [1,5,8,6,11,55]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print('Original List:', list1)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list1.reverse()       		  		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print('Reversed List:', list1)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Original List: [1, 5, 8, 6, 11, 55]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Reversed List: [55, 11, 6, 8, 5, 1]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"/>
          <p:cNvSpPr txBox="1"/>
          <p:nvPr>
            <p:ph idx="1" type="body"/>
          </p:nvPr>
        </p:nvSpPr>
        <p:spPr>
          <a:xfrm>
            <a:off x="603528" y="658905"/>
            <a:ext cx="10987835" cy="6199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sort( ) method: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sort() method sorts the elements of a given list. It sorts the list ascending by default.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sort() method sorts the elements of a given list in a specific order - Ascending or Descending.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list.sort(reverse=True|False, key=myFunc)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i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 = [1,15,88,6,51,55]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print('Original List:', list1)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list1.sort()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print('sorted List:', list1)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Original List: [1, 15, 88, 6, 51, 55]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sorted List: [1, 6, 15, 51, 55, 88]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87" name="Google Shape;387;p37"/>
          <p:cNvGraphicFramePr/>
          <p:nvPr/>
        </p:nvGraphicFramePr>
        <p:xfrm>
          <a:off x="756007" y="2483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{EAC7BC0C-FBEC-469B-B0C9-CF68428DB30A}</a:tableStyleId>
              </a:tblPr>
              <a:tblGrid>
                <a:gridCol w="1432400"/>
                <a:gridCol w="9083200"/>
              </a:tblGrid>
              <a:tr h="516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reverse</a:t>
                      </a:r>
                      <a:endParaRPr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Optional. reverse=True will sort the list descending. Default is reverse=False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42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key</a:t>
                      </a:r>
                      <a:endParaRPr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Optional. A function to specify the sorting criteria(s)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/>
          <p:nvPr>
            <p:ph type="title"/>
          </p:nvPr>
        </p:nvSpPr>
        <p:spPr>
          <a:xfrm>
            <a:off x="838200" y="873303"/>
            <a:ext cx="10515600" cy="817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>
                <a:latin typeface="Calibri"/>
                <a:ea typeface="Calibri"/>
                <a:cs typeface="Calibri"/>
                <a:sym typeface="Calibri"/>
              </a:rPr>
              <a:t>Sort the list descending</a:t>
            </a:r>
            <a:endParaRPr/>
          </a:p>
        </p:txBody>
      </p:sp>
      <p:sp>
        <p:nvSpPr>
          <p:cNvPr id="393" name="Google Shape;393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list1 = [1,15,88,6,51,55]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print('Original List:', list1)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list1.sort(reverse=True)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print('sorted List:', list1)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Original List: [1, 15, 88, 6, 51, 55]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sorted List: [88, 55, 51, 15, 6, 1]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Sort the list by the length of the values</a:t>
            </a:r>
            <a:endParaRPr/>
          </a:p>
        </p:txBody>
      </p:sp>
      <p:sp>
        <p:nvSpPr>
          <p:cNvPr id="399" name="Google Shape;399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def myFunc(e):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  	return len(e)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cars = ['Ford', 'Mitsubishi', 'BMW', 'VW']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cars.sort(key=myFunc)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print(cars)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['VW', 'BMW', 'Ford', 'Mitsubishi']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 txBox="1"/>
          <p:nvPr>
            <p:ph type="title"/>
          </p:nvPr>
        </p:nvSpPr>
        <p:spPr>
          <a:xfrm>
            <a:off x="838200" y="75554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Sort the list descending and by the length of the values</a:t>
            </a:r>
            <a:endParaRPr/>
          </a:p>
        </p:txBody>
      </p:sp>
      <p:sp>
        <p:nvSpPr>
          <p:cNvPr id="405" name="Google Shape;405;p40"/>
          <p:cNvSpPr txBox="1"/>
          <p:nvPr>
            <p:ph idx="1" type="body"/>
          </p:nvPr>
        </p:nvSpPr>
        <p:spPr>
          <a:xfrm>
            <a:off x="838200" y="2506662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def myFunc(e):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  	return len(e)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cars = ['Ford', 'Mitsubishi', 'BMW', 'VW']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cars.sort(reverse=True, key=myFunc)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print(cars)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['Mitsubishi', 'Ford', 'BMW', 'VW']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1"/>
          <p:cNvSpPr txBox="1"/>
          <p:nvPr>
            <p:ph idx="1" type="body"/>
          </p:nvPr>
        </p:nvSpPr>
        <p:spPr>
          <a:xfrm>
            <a:off x="602082" y="658905"/>
            <a:ext cx="10987835" cy="6199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Arithmetic operation +, * on list: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ls1=[1,2,3]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ls2=[5,6,7]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print(ls1+ls2)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ls1=[1,2,3]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print(ls1*3)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ls1=[1,2,3]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[0]*4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1" name="Google Shape;411;p41"/>
          <p:cNvSpPr txBox="1"/>
          <p:nvPr/>
        </p:nvSpPr>
        <p:spPr>
          <a:xfrm>
            <a:off x="5392614" y="2106624"/>
            <a:ext cx="3477234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[1, 2, 3, 5, 6, 7</a:t>
            </a: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</p:txBody>
      </p:sp>
      <p:sp>
        <p:nvSpPr>
          <p:cNvPr id="412" name="Google Shape;412;p41"/>
          <p:cNvSpPr txBox="1"/>
          <p:nvPr/>
        </p:nvSpPr>
        <p:spPr>
          <a:xfrm>
            <a:off x="5392614" y="3923675"/>
            <a:ext cx="4616970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[1, 2, 3, 1, 2, 3, 1, 2, 3]</a:t>
            </a:r>
            <a:endParaRPr/>
          </a:p>
        </p:txBody>
      </p:sp>
      <p:sp>
        <p:nvSpPr>
          <p:cNvPr id="413" name="Google Shape;413;p41"/>
          <p:cNvSpPr txBox="1"/>
          <p:nvPr/>
        </p:nvSpPr>
        <p:spPr>
          <a:xfrm>
            <a:off x="5392614" y="5674022"/>
            <a:ext cx="2590774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Output:[0, 0, 0, 0]</a:t>
            </a:r>
            <a:endParaRPr b="1" sz="14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2"/>
          <p:cNvSpPr txBox="1"/>
          <p:nvPr>
            <p:ph idx="1" type="body"/>
          </p:nvPr>
        </p:nvSpPr>
        <p:spPr>
          <a:xfrm>
            <a:off x="838200" y="852755"/>
            <a:ext cx="10515600" cy="5835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</a:t>
            </a: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i="1" lang="en-US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in</a:t>
            </a: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1" i="1"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list1 = [1,15,88,6,51,55]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if 88 in list1</a:t>
            </a:r>
            <a:endParaRPr b="1" sz="28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print('Element Found')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</a:t>
            </a:r>
            <a:endParaRPr sz="2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list1 = [1,15,88,6,51,55]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if 100 not in list1</a:t>
            </a:r>
            <a:endParaRPr b="1" sz="28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print('Element not present’)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19" name="Google Shape;419;p42"/>
          <p:cNvSpPr txBox="1"/>
          <p:nvPr/>
        </p:nvSpPr>
        <p:spPr>
          <a:xfrm>
            <a:off x="8519745" y="2434687"/>
            <a:ext cx="2292615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onsolas"/>
              <a:buNone/>
            </a:pP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Element Found</a:t>
            </a:r>
            <a:endParaRPr/>
          </a:p>
        </p:txBody>
      </p:sp>
      <p:sp>
        <p:nvSpPr>
          <p:cNvPr id="420" name="Google Shape;420;p42"/>
          <p:cNvSpPr txBox="1"/>
          <p:nvPr/>
        </p:nvSpPr>
        <p:spPr>
          <a:xfrm>
            <a:off x="8519745" y="4339784"/>
            <a:ext cx="3052439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onsolas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Element not present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3"/>
          <p:cNvSpPr txBox="1"/>
          <p:nvPr>
            <p:ph idx="1" type="body"/>
          </p:nvPr>
        </p:nvSpPr>
        <p:spPr>
          <a:xfrm>
            <a:off x="318500" y="658905"/>
            <a:ext cx="11691990" cy="6199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Lists and Functions: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utility functions like </a:t>
            </a: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max(), min(), sum(), len() etc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can be used on lists. Hence most of the operations will be easy without the usage of loops.</a:t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ls=[3,12,5,26,32,1,4]				ls=[3,12,5,26,32,1,4]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max(ls) 						min(ls) 	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32	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			</a:t>
            </a: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------------------------------------------------------------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ls=[3,12,5,26,32,1,4]				ls=[3,12,5,26,32,1,4]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sum(ls) 						len(ls) 	</a:t>
            </a:r>
            <a:endParaRPr b="1" sz="24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sz="24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83	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			</a:t>
            </a: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------------------------------------------------------------</a:t>
            </a:r>
            <a:endParaRPr b="1" sz="24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</a:pPr>
            <a:r>
              <a:rPr b="1" lang="en-US" sz="24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ls=[3,12,5,26,32,1,4]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avg=sum(ls)/len(ls)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		     print(avg)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			  </a:t>
            </a: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11.857142857142858</a:t>
            </a: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26" name="Google Shape;426;p43"/>
          <p:cNvCxnSpPr/>
          <p:nvPr/>
        </p:nvCxnSpPr>
        <p:spPr>
          <a:xfrm>
            <a:off x="6452171" y="2239766"/>
            <a:ext cx="0" cy="248170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4"/>
          <p:cNvSpPr txBox="1"/>
          <p:nvPr>
            <p:ph idx="1" type="body"/>
          </p:nvPr>
        </p:nvSpPr>
        <p:spPr>
          <a:xfrm>
            <a:off x="121024" y="770563"/>
            <a:ext cx="11551023" cy="6410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Looping through list: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1. A Simple </a:t>
            </a:r>
            <a:r>
              <a:rPr b="1" i="1" lang="en-US"/>
              <a:t>for </a:t>
            </a:r>
            <a:r>
              <a:rPr b="1" lang="en-US"/>
              <a:t>Loop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	</a:t>
            </a:r>
            <a:r>
              <a:rPr lang="en-US" sz="2000"/>
              <a:t>Using a Python for loop is one of the simplest methods for iterating over a list or any other sequence (e.g. TUPLES, SETS, OR DICTIONARIES).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We can use them to run the statements contained within the loop once for each item in a list.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Example:</a:t>
            </a:r>
            <a:endParaRPr/>
          </a:p>
          <a:p>
            <a:pPr indent="0" lvl="0" marL="98266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a=[1, "python", 23.76, True]</a:t>
            </a:r>
            <a:endParaRPr/>
          </a:p>
          <a:p>
            <a:pPr indent="0" lvl="0" marL="98266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for i in a:</a:t>
            </a:r>
            <a:endParaRPr/>
          </a:p>
          <a:p>
            <a:pPr indent="0" lvl="0" marL="98266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    print(i)</a:t>
            </a:r>
            <a:endParaRPr/>
          </a:p>
          <a:p>
            <a:pPr indent="0" lvl="0" marL="98266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82663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p44"/>
          <p:cNvSpPr txBox="1"/>
          <p:nvPr/>
        </p:nvSpPr>
        <p:spPr>
          <a:xfrm>
            <a:off x="7017546" y="3983944"/>
            <a:ext cx="2342508" cy="224676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23.76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endParaRPr b="1" sz="28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5"/>
          <p:cNvSpPr txBox="1"/>
          <p:nvPr>
            <p:ph idx="1" type="body"/>
          </p:nvPr>
        </p:nvSpPr>
        <p:spPr>
          <a:xfrm>
            <a:off x="201706" y="900951"/>
            <a:ext cx="11551023" cy="5728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Looping through list: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2. A </a:t>
            </a:r>
            <a:r>
              <a:rPr b="1" i="1" lang="en-US"/>
              <a:t>for</a:t>
            </a:r>
            <a:r>
              <a:rPr b="1" lang="en-US"/>
              <a:t> Loop with </a:t>
            </a:r>
            <a:r>
              <a:rPr b="1" i="1" lang="en-US"/>
              <a:t>range()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r>
              <a:rPr b="1" lang="en-US" sz="2000"/>
              <a:t>range()</a:t>
            </a:r>
            <a:r>
              <a:rPr lang="en-US" sz="2000"/>
              <a:t> generates a sequence of integers from the provided starting and stopping indexes.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ls=[1, "python", 23.76, True]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a=len(ls)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for i in range(a):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	 	print(ls[i]) </a:t>
            </a:r>
            <a:r>
              <a:rPr b="1" lang="en-US" sz="2400">
                <a:solidFill>
                  <a:srgbClr val="7F7F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/>
          </a:p>
        </p:txBody>
      </p:sp>
      <p:sp>
        <p:nvSpPr>
          <p:cNvPr id="438" name="Google Shape;438;p45"/>
          <p:cNvSpPr txBox="1"/>
          <p:nvPr/>
        </p:nvSpPr>
        <p:spPr>
          <a:xfrm>
            <a:off x="7161088" y="2907586"/>
            <a:ext cx="2342508" cy="224676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92D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23.76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</a:t>
            </a:r>
            <a:endParaRPr b="1" sz="28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/>
          <p:nvPr>
            <p:ph idx="1" type="body"/>
          </p:nvPr>
        </p:nvSpPr>
        <p:spPr>
          <a:xfrm>
            <a:off x="309283" y="712693"/>
            <a:ext cx="11645152" cy="6199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programming: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Functional Programming decomposes a problem into a set of functions. The map(),filter(), and reduce() functions help the programmer to write simpler and shorter code.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1. map( ) Function: </a:t>
            </a:r>
            <a:r>
              <a:rPr lang="en-US" sz="2200"/>
              <a:t>The map() function applies a particular function to every element of a list.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i="1" lang="en-US" sz="2200"/>
              <a:t>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i="1" lang="en-US" sz="2200"/>
              <a:t>Syntax: </a:t>
            </a:r>
            <a:r>
              <a:rPr lang="en-US" sz="2200"/>
              <a:t>map(function,sequence)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After applying the specified function in the sequence, the map( ) function returns the modified list.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7"/>
          <p:cNvSpPr txBox="1"/>
          <p:nvPr>
            <p:ph idx="1" type="body"/>
          </p:nvPr>
        </p:nvSpPr>
        <p:spPr>
          <a:xfrm>
            <a:off x="472611" y="893852"/>
            <a:ext cx="11307163" cy="5609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i="1" lang="en-US" sz="2200"/>
              <a:t>Ex: </a:t>
            </a:r>
            <a:r>
              <a:rPr lang="en-US" sz="2200"/>
              <a:t>Program that adds 2 to every value in the list.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1" marL="14287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def add(x): 	</a:t>
            </a:r>
            <a:endParaRPr/>
          </a:p>
          <a:p>
            <a:pPr indent="0" lvl="1" marL="14287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	x=x+2 </a:t>
            </a:r>
            <a:endParaRPr/>
          </a:p>
          <a:p>
            <a:pPr indent="0" lvl="1" marL="14287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	return x </a:t>
            </a:r>
            <a:endParaRPr/>
          </a:p>
          <a:p>
            <a:pPr indent="0" lvl="1" marL="14287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num=[1,2,3,4,5,6,7] </a:t>
            </a:r>
            <a:endParaRPr/>
          </a:p>
          <a:p>
            <a:pPr indent="0" lvl="1" marL="14287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print(“original list is: ”,num) </a:t>
            </a:r>
            <a:endParaRPr/>
          </a:p>
          <a:p>
            <a:pPr indent="0" lvl="1" marL="14287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new=list(map(add,num)) </a:t>
            </a:r>
            <a:endParaRPr/>
          </a:p>
          <a:p>
            <a:pPr indent="0" lvl="1" marL="142875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print(“modified list is: ”,new)</a:t>
            </a:r>
            <a:endParaRPr/>
          </a:p>
        </p:txBody>
      </p:sp>
      <p:sp>
        <p:nvSpPr>
          <p:cNvPr id="449" name="Google Shape;449;p47"/>
          <p:cNvSpPr/>
          <p:nvPr/>
        </p:nvSpPr>
        <p:spPr>
          <a:xfrm>
            <a:off x="5641674" y="2498368"/>
            <a:ext cx="6272826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original list is: [1,2,3,4,5,6,7]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modified list is: [3,4,5,6,7,8,9]</a:t>
            </a:r>
            <a:endParaRPr b="1" i="1" sz="24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8"/>
          <p:cNvSpPr txBox="1"/>
          <p:nvPr>
            <p:ph idx="1" type="body"/>
          </p:nvPr>
        </p:nvSpPr>
        <p:spPr>
          <a:xfrm>
            <a:off x="575353" y="712693"/>
            <a:ext cx="10911155" cy="5307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2. </a:t>
            </a:r>
            <a:r>
              <a:rPr b="1" lang="en-US"/>
              <a:t>reduce( ) Function: </a:t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Syntax:</a:t>
            </a:r>
            <a:r>
              <a:rPr lang="en-US" sz="2400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	reduce(function,sequence)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At first step, first two elements of sequence are picked, the function is applied on the elements and the result is obtained.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Next step is to apply the same function to the previously attained result and the number just succeeding the second element and the result is again stored.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This process continues till no more elements are left in the sequence.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final result is returned and printed on console.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9"/>
          <p:cNvSpPr txBox="1"/>
          <p:nvPr>
            <p:ph idx="1" type="body"/>
          </p:nvPr>
        </p:nvSpPr>
        <p:spPr>
          <a:xfrm>
            <a:off x="410966" y="760288"/>
            <a:ext cx="11250203" cy="587681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Program to calculate the sum of values in a list using the reduce( ) function.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functools</a:t>
            </a:r>
            <a:r>
              <a:rPr b="1"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6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#functools is a module that contains the function reduce() </a:t>
            </a:r>
            <a:r>
              <a:rPr b="1" lang="en-US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def add(x,y):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return x+y 	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num_list=[1,2,3,4,5]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print(“sum of values in list=”)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print(functools.reduce(add,num_list))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60" name="Google Shape;460;p49"/>
          <p:cNvSpPr/>
          <p:nvPr/>
        </p:nvSpPr>
        <p:spPr>
          <a:xfrm>
            <a:off x="1568433" y="5741104"/>
            <a:ext cx="4912659" cy="7694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sum of values in list= 15</a:t>
            </a:r>
            <a:endParaRPr b="1" i="1" sz="22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461" name="Google Shape;461;p49"/>
          <p:cNvGraphicFramePr/>
          <p:nvPr/>
        </p:nvGraphicFramePr>
        <p:xfrm>
          <a:off x="8641976" y="26291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{B4403DD0-EA60-4B1B-8F4B-E8EC18375494}</a:tableStyleId>
              </a:tblPr>
              <a:tblGrid>
                <a:gridCol w="554025"/>
                <a:gridCol w="554025"/>
                <a:gridCol w="554025"/>
                <a:gridCol w="554025"/>
                <a:gridCol w="5540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462" name="Google Shape;462;p49"/>
          <p:cNvCxnSpPr/>
          <p:nvPr/>
        </p:nvCxnSpPr>
        <p:spPr>
          <a:xfrm>
            <a:off x="8875058" y="3012142"/>
            <a:ext cx="128620" cy="63817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3" name="Google Shape;463;p49"/>
          <p:cNvCxnSpPr/>
          <p:nvPr/>
        </p:nvCxnSpPr>
        <p:spPr>
          <a:xfrm flipH="1">
            <a:off x="9154521" y="3048000"/>
            <a:ext cx="231526" cy="60232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4" name="Google Shape;464;p49"/>
          <p:cNvSpPr txBox="1"/>
          <p:nvPr/>
        </p:nvSpPr>
        <p:spPr>
          <a:xfrm>
            <a:off x="8911695" y="369833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465" name="Google Shape;465;p49"/>
          <p:cNvCxnSpPr>
            <a:endCxn id="464" idx="3"/>
          </p:cNvCxnSpPr>
          <p:nvPr/>
        </p:nvCxnSpPr>
        <p:spPr>
          <a:xfrm flipH="1">
            <a:off x="9213381" y="3034598"/>
            <a:ext cx="758400" cy="848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6" name="Google Shape;466;p49"/>
          <p:cNvCxnSpPr/>
          <p:nvPr/>
        </p:nvCxnSpPr>
        <p:spPr>
          <a:xfrm>
            <a:off x="9154521" y="4032170"/>
            <a:ext cx="0" cy="36852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7" name="Google Shape;467;p49"/>
          <p:cNvSpPr txBox="1"/>
          <p:nvPr/>
        </p:nvSpPr>
        <p:spPr>
          <a:xfrm>
            <a:off x="9003678" y="440069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468" name="Google Shape;468;p49"/>
          <p:cNvCxnSpPr>
            <a:endCxn id="467" idx="3"/>
          </p:cNvCxnSpPr>
          <p:nvPr/>
        </p:nvCxnSpPr>
        <p:spPr>
          <a:xfrm flipH="1">
            <a:off x="9305364" y="3069165"/>
            <a:ext cx="1255200" cy="1516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9" name="Google Shape;469;p49"/>
          <p:cNvCxnSpPr/>
          <p:nvPr/>
        </p:nvCxnSpPr>
        <p:spPr>
          <a:xfrm>
            <a:off x="9154521" y="4770031"/>
            <a:ext cx="0" cy="36852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0" name="Google Shape;470;p49"/>
          <p:cNvSpPr txBox="1"/>
          <p:nvPr/>
        </p:nvSpPr>
        <p:spPr>
          <a:xfrm>
            <a:off x="9003678" y="521334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cxnSp>
        <p:nvCxnSpPr>
          <p:cNvPr id="471" name="Google Shape;471;p49"/>
          <p:cNvCxnSpPr/>
          <p:nvPr/>
        </p:nvCxnSpPr>
        <p:spPr>
          <a:xfrm flipH="1">
            <a:off x="9382212" y="3069120"/>
            <a:ext cx="1680797" cy="224405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2" name="Google Shape;472;p49"/>
          <p:cNvCxnSpPr/>
          <p:nvPr/>
        </p:nvCxnSpPr>
        <p:spPr>
          <a:xfrm>
            <a:off x="9253911" y="5521932"/>
            <a:ext cx="0" cy="36852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73" name="Google Shape;473;p49"/>
          <p:cNvSpPr txBox="1"/>
          <p:nvPr/>
        </p:nvSpPr>
        <p:spPr>
          <a:xfrm>
            <a:off x="9062538" y="594115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0"/>
          <p:cNvSpPr txBox="1"/>
          <p:nvPr>
            <p:ph idx="1" type="body"/>
          </p:nvPr>
        </p:nvSpPr>
        <p:spPr>
          <a:xfrm>
            <a:off x="309283" y="712693"/>
            <a:ext cx="11645152" cy="5966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3. filter( ) Function: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The filter() method takes a function and an iterable and returns a new iterable containing only the elements for which the function returns True. It filters the given sequence with the help of a function that tests each element in the sequence to be true or not. It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Syntax:</a:t>
            </a:r>
            <a:r>
              <a:rPr lang="en-US" sz="2200"/>
              <a:t>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	</a:t>
            </a:r>
            <a:r>
              <a:rPr b="1" lang="en-US" sz="2200">
                <a:latin typeface="Consolas"/>
                <a:ea typeface="Consolas"/>
                <a:cs typeface="Consolas"/>
                <a:sym typeface="Consolas"/>
              </a:rPr>
              <a:t>filter(function,sequence)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function: function that tests if each element of a sequence is true or not.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Consolas"/>
                <a:ea typeface="Consolas"/>
                <a:cs typeface="Consolas"/>
                <a:sym typeface="Consolas"/>
              </a:rPr>
              <a:t>sequence: sequence which needs to be filtered, it can be sets, lists, tuples, or containers of any iterators.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br>
              <a:rPr b="1" lang="en-US" sz="2200">
                <a:latin typeface="Consolas"/>
                <a:ea typeface="Consolas"/>
                <a:cs typeface="Consolas"/>
                <a:sym typeface="Consolas"/>
              </a:rPr>
            </a:b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1"/>
          <p:cNvSpPr txBox="1"/>
          <p:nvPr>
            <p:ph idx="1" type="body"/>
          </p:nvPr>
        </p:nvSpPr>
        <p:spPr>
          <a:xfrm>
            <a:off x="838200" y="924674"/>
            <a:ext cx="10515600" cy="52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Ex: </a:t>
            </a:r>
            <a:r>
              <a:rPr lang="en-US" sz="2800"/>
              <a:t>Program to create a list of numbers divisible by 2 using filter()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values=[1,2,3,4,5,6,7,8,9,10,11,12,13,14,15,16,17,18,19,20]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def check(x):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if x%2==0: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 return True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evens=list(filter(check, values))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print(evens)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84" name="Google Shape;484;p51"/>
          <p:cNvSpPr/>
          <p:nvPr/>
        </p:nvSpPr>
        <p:spPr>
          <a:xfrm>
            <a:off x="6971117" y="5623279"/>
            <a:ext cx="4912659" cy="76944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[2,4,6,8,10,12,14,16,18,20]</a:t>
            </a:r>
            <a:endParaRPr b="1" i="1" sz="22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6000"/>
              <a:buFont typeface="Times New Roman"/>
              <a:buNone/>
            </a:pPr>
            <a:r>
              <a:rPr lang="en-US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TUPLES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3"/>
          <p:cNvSpPr/>
          <p:nvPr/>
        </p:nvSpPr>
        <p:spPr>
          <a:xfrm>
            <a:off x="708211" y="752599"/>
            <a:ext cx="11044518" cy="261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Tuples: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Like list, Tuples are used to store multiple items in a single variable.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tuple is a collection which is ordered and unchangeable.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Tuples are written with round brackets.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3"/>
          <p:cNvSpPr/>
          <p:nvPr/>
        </p:nvSpPr>
        <p:spPr>
          <a:xfrm>
            <a:off x="708211" y="3368700"/>
            <a:ext cx="1104451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r>
              <a:rPr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("apple", "banana", "cherry")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Tuple items are indexed, the first item has index </a:t>
            </a: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[0]</a:t>
            </a:r>
            <a:r>
              <a:rPr b="1" i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, the second item has index </a:t>
            </a: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b="1" i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 and so on.</a:t>
            </a:r>
            <a:endParaRPr b="1" i="1" sz="3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96" name="Google Shape;496;p53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97" name="Google Shape;497;p53"/>
          <p:cNvGraphicFramePr/>
          <p:nvPr/>
        </p:nvGraphicFramePr>
        <p:xfrm>
          <a:off x="8202200" y="44118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98" name="Google Shape;498;p53"/>
          <p:cNvGraphicFramePr/>
          <p:nvPr/>
        </p:nvGraphicFramePr>
        <p:xfrm>
          <a:off x="8202200" y="40460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3" name="Google Shape;503;p54"/>
          <p:cNvGraphicFramePr/>
          <p:nvPr/>
        </p:nvGraphicFramePr>
        <p:xfrm>
          <a:off x="690554" y="11098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{EAC7BC0C-FBEC-469B-B0C9-CF68428DB30A}</a:tableStyleId>
              </a:tblPr>
              <a:tblGrid>
                <a:gridCol w="648000"/>
                <a:gridCol w="1839375"/>
                <a:gridCol w="4095000"/>
                <a:gridCol w="4095000"/>
              </a:tblGrid>
              <a:tr h="590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Sl. No.</a:t>
                      </a:r>
                      <a:endParaRPr/>
                    </a:p>
                  </a:txBody>
                  <a:tcPr marT="43875" marB="43875" marR="43875" marL="43875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Key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359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1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Type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is </a:t>
                      </a:r>
                      <a:r>
                        <a:rPr b="1" i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mutable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 is </a:t>
                      </a:r>
                      <a:r>
                        <a:rPr b="1" i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immutable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2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Iteration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iteration is </a:t>
                      </a:r>
                      <a:r>
                        <a:rPr b="1" i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slower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 and is time consuming.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 iteration is </a:t>
                      </a:r>
                      <a:r>
                        <a:rPr b="1" i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faster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3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3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Appropriate for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is useful for </a:t>
                      </a:r>
                      <a:r>
                        <a:rPr b="1" i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insertion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 and </a:t>
                      </a:r>
                      <a:r>
                        <a:rPr b="1" i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deletion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 operations.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 is useful for </a:t>
                      </a:r>
                      <a:r>
                        <a:rPr b="1" i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read only 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operations like accessing elements.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84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4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Memory Consumption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consumes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more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memory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Tuples consumes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less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memory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5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Methods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provides many in-built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methods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Tuples have less in-built </a:t>
                      </a: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methods</a:t>
                      </a: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0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6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Error prone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List operations are more error prone.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000" u="none" cap="none" strike="noStrike">
                          <a:solidFill>
                            <a:schemeClr val="dk1"/>
                          </a:solidFill>
                          <a:latin typeface="Constantia"/>
                          <a:ea typeface="Constantia"/>
                          <a:cs typeface="Constantia"/>
                          <a:sym typeface="Constantia"/>
                        </a:rPr>
                        <a:t>Tuples operations are safe.</a:t>
                      </a:r>
                      <a:endParaRPr/>
                    </a:p>
                  </a:txBody>
                  <a:tcPr marT="43875" marB="43875" marR="43875" marL="43875" anchor="ctr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4" name="Google Shape;504;p54"/>
          <p:cNvSpPr/>
          <p:nvPr/>
        </p:nvSpPr>
        <p:spPr>
          <a:xfrm>
            <a:off x="259304" y="95367"/>
            <a:ext cx="9167084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Following are the important differences between List and Tuple.</a:t>
            </a:r>
            <a:endParaRPr b="1" i="0" sz="32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5"/>
          <p:cNvSpPr txBox="1"/>
          <p:nvPr>
            <p:ph idx="1" type="body"/>
          </p:nvPr>
        </p:nvSpPr>
        <p:spPr>
          <a:xfrm>
            <a:off x="697658" y="1411941"/>
            <a:ext cx="10987835" cy="3858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US" sz="2600">
                <a:latin typeface="Constantia"/>
                <a:ea typeface="Constantia"/>
                <a:cs typeface="Constantia"/>
                <a:sym typeface="Constantia"/>
              </a:rPr>
              <a:t>Similarities: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 sz="2600"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>
                <a:latin typeface="Constantia"/>
                <a:ea typeface="Constantia"/>
                <a:cs typeface="Constantia"/>
                <a:sym typeface="Constantia"/>
              </a:rPr>
              <a:t>Although there are many </a:t>
            </a:r>
            <a:r>
              <a:rPr b="1" lang="en-US" sz="2600">
                <a:latin typeface="Constantia"/>
                <a:ea typeface="Constantia"/>
                <a:cs typeface="Constantia"/>
                <a:sym typeface="Constantia"/>
              </a:rPr>
              <a:t>differences between list and tuple, </a:t>
            </a:r>
            <a:r>
              <a:rPr lang="en-US" sz="2600">
                <a:latin typeface="Constantia"/>
                <a:ea typeface="Constantia"/>
                <a:cs typeface="Constantia"/>
                <a:sym typeface="Constantia"/>
              </a:rPr>
              <a:t>there are some similarities too, as follows: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Constantia"/>
              <a:ea typeface="Constantia"/>
              <a:cs typeface="Constantia"/>
              <a:sym typeface="Constanti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latin typeface="Constantia"/>
                <a:ea typeface="Constantia"/>
                <a:cs typeface="Constantia"/>
                <a:sym typeface="Constantia"/>
              </a:rPr>
              <a:t>The two data structures are both sequence data types that store collections of items.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latin typeface="Constantia"/>
                <a:ea typeface="Constantia"/>
                <a:cs typeface="Constantia"/>
                <a:sym typeface="Constantia"/>
              </a:rPr>
              <a:t>Items of any data type can be stored in them.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>
                <a:latin typeface="Constantia"/>
                <a:ea typeface="Constantia"/>
                <a:cs typeface="Constantia"/>
                <a:sym typeface="Constantia"/>
              </a:rPr>
              <a:t>Items can be accessed by their index.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6"/>
          <p:cNvSpPr txBox="1"/>
          <p:nvPr>
            <p:ph idx="1" type="body"/>
          </p:nvPr>
        </p:nvSpPr>
        <p:spPr>
          <a:xfrm>
            <a:off x="452063" y="657546"/>
            <a:ext cx="11219983" cy="604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400">
                <a:latin typeface="Constantia"/>
                <a:ea typeface="Constantia"/>
                <a:cs typeface="Constantia"/>
                <a:sym typeface="Constantia"/>
              </a:rPr>
              <a:t>Allow Duplicates:  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Since tuples are indexed, they can have items with the same value: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1: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 = (1, 2, 3, 4, 3, 2)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(1, 2, 3, 4, 3, 2)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2:</a:t>
            </a:r>
            <a:endParaRPr/>
          </a:p>
          <a:p>
            <a:pPr indent="0" lvl="0" marL="0" rtl="0" algn="l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400"/>
            </a:br>
            <a:r>
              <a:rPr b="1" lang="en-US" sz="2400"/>
              <a:t>	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('apple', 'banana', 'cherry', 'apple', 'cherry')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7"/>
          <p:cNvSpPr txBox="1"/>
          <p:nvPr>
            <p:ph idx="1" type="body"/>
          </p:nvPr>
        </p:nvSpPr>
        <p:spPr>
          <a:xfrm>
            <a:off x="684211" y="1037690"/>
            <a:ext cx="10987835" cy="546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onstantia"/>
                <a:ea typeface="Constantia"/>
                <a:cs typeface="Constantia"/>
                <a:sym typeface="Constantia"/>
              </a:rPr>
              <a:t>Create Tuple With One Item: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To create a tuple with only one item, you have to add a </a:t>
            </a:r>
            <a:r>
              <a:rPr b="1" i="1" lang="en-US" sz="2400">
                <a:latin typeface="Constantia"/>
                <a:ea typeface="Constantia"/>
                <a:cs typeface="Constantia"/>
                <a:sym typeface="Constantia"/>
              </a:rPr>
              <a:t>comma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 after the item, otherwise Python will not recognize it as a tuple.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,)</a:t>
            </a:r>
            <a:br>
              <a:rPr b="1" lang="en-US" sz="2400"/>
            </a:br>
            <a:r>
              <a:rPr b="1" lang="en-US" sz="2400"/>
              <a:t>	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(thistuple))</a:t>
            </a:r>
            <a:br>
              <a:rPr b="1" lang="en-US" sz="2400"/>
            </a:br>
            <a:br>
              <a:rPr lang="en-US" sz="2400"/>
            </a:br>
            <a:r>
              <a:rPr lang="en-US" sz="2400"/>
              <a:t>	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#NOT a tuple</a:t>
            </a:r>
            <a:b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400"/>
            </a:br>
            <a:r>
              <a:rPr b="1" lang="en-US" sz="2400"/>
              <a:t>	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&lt;class 'tuple'&gt;</a:t>
            </a:r>
            <a:b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&lt;class 'str'&gt;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8"/>
          <p:cNvSpPr txBox="1"/>
          <p:nvPr>
            <p:ph idx="1" type="body"/>
          </p:nvPr>
        </p:nvSpPr>
        <p:spPr>
          <a:xfrm>
            <a:off x="602082" y="860912"/>
            <a:ext cx="10987835" cy="5553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onstantia"/>
                <a:ea typeface="Constantia"/>
                <a:cs typeface="Constantia"/>
                <a:sym typeface="Constantia"/>
              </a:rPr>
              <a:t>Tuple Items - Data Types: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Tuple items can be of any data type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tuple1 = (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400"/>
            </a:br>
            <a:r>
              <a:rPr b="1" lang="en-US" sz="2400"/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tuple2 = (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400"/>
            </a:br>
            <a:r>
              <a:rPr b="1" lang="en-US" sz="2400"/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tuple3 = (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print(tuple1)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print(tuple2)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print(tuple3)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('apple', 'banana', 'cherry')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(1, 5, 7, 9, 3)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(True, False, False)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9"/>
          <p:cNvSpPr txBox="1"/>
          <p:nvPr>
            <p:ph idx="1" type="body"/>
          </p:nvPr>
        </p:nvSpPr>
        <p:spPr>
          <a:xfrm>
            <a:off x="563187" y="1075765"/>
            <a:ext cx="10987835" cy="3751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Tuple Items - Data Types: </a:t>
            </a: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tuple can contain items of different data types</a:t>
            </a:r>
            <a:endParaRPr b="1"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tuple1 = (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"abc"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print(tuple1)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 ('abc', 34, True, 40, 'male') 	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0"/>
          <p:cNvSpPr txBox="1"/>
          <p:nvPr>
            <p:ph idx="1" type="body"/>
          </p:nvPr>
        </p:nvSpPr>
        <p:spPr>
          <a:xfrm>
            <a:off x="737998" y="1156447"/>
            <a:ext cx="10987835" cy="4689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onstantia"/>
                <a:ea typeface="Constantia"/>
                <a:cs typeface="Constantia"/>
                <a:sym typeface="Constantia"/>
              </a:rPr>
              <a:t>type():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From Python's perspective, tuples are defined as objects with the data type 'tuple'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&lt;class 'tuple'&gt;</a:t>
            </a:r>
            <a:endParaRPr b="1" i="1"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mytuple = (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400"/>
            </a:br>
            <a:r>
              <a:rPr b="1" lang="en-US" sz="2400"/>
              <a:t>	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(mytuple))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&lt;class 'tuple'&gt;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1"/>
          <p:cNvSpPr txBox="1"/>
          <p:nvPr>
            <p:ph idx="1" type="body"/>
          </p:nvPr>
        </p:nvSpPr>
        <p:spPr>
          <a:xfrm>
            <a:off x="724552" y="832207"/>
            <a:ext cx="10987835" cy="5948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onstantia"/>
                <a:ea typeface="Constantia"/>
                <a:cs typeface="Constantia"/>
                <a:sym typeface="Constantia"/>
              </a:rPr>
              <a:t>The tuple() Constructor: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It is also possible to use the </a:t>
            </a:r>
            <a:r>
              <a:rPr b="1" i="1" lang="en-US" sz="2400">
                <a:latin typeface="Constantia"/>
                <a:ea typeface="Constantia"/>
                <a:cs typeface="Constantia"/>
                <a:sym typeface="Constantia"/>
              </a:rPr>
              <a:t>tuple() </a:t>
            </a:r>
            <a:r>
              <a:rPr lang="en-US" sz="2400">
                <a:latin typeface="Constantia"/>
                <a:ea typeface="Constantia"/>
                <a:cs typeface="Constantia"/>
                <a:sym typeface="Constantia"/>
              </a:rPr>
              <a:t>constructor to make a tuple.</a:t>
            </a:r>
            <a:endParaRPr b="1"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t=tuple((1,2,3))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2E75B5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(1,2,3)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</a:t>
            </a:r>
            <a:endParaRPr b="1"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2: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tuple((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)) </a:t>
            </a:r>
            <a:br>
              <a:rPr b="1" lang="en-US" sz="2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2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 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('apple', 'banana', 'cherry')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2"/>
          <p:cNvSpPr txBox="1"/>
          <p:nvPr>
            <p:ph idx="1" type="body"/>
          </p:nvPr>
        </p:nvSpPr>
        <p:spPr>
          <a:xfrm>
            <a:off x="616974" y="821933"/>
            <a:ext cx="10987835" cy="6036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Constantia"/>
                <a:ea typeface="Constantia"/>
                <a:cs typeface="Constantia"/>
                <a:sym typeface="Constantia"/>
              </a:rPr>
              <a:t>Access Tuple Items: 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You can access tuple items by referring to the index number, inside square brackets</a:t>
            </a:r>
            <a:endParaRPr b="1" i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/>
            </a:br>
            <a:r>
              <a:rPr b="1" lang="en-US" sz="2200"/>
              <a:t>	</a:t>
            </a:r>
            <a:r>
              <a:rPr b="1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</a:t>
            </a: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b="1" sz="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banana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----------------------------------------------------------------------------------------------------------------------------------------------------------------------------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Constantia"/>
                <a:ea typeface="Constantia"/>
                <a:cs typeface="Constantia"/>
                <a:sym typeface="Constantia"/>
              </a:rPr>
              <a:t>Negative Indexing: 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Negative indexing means start from the end.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 refers to the last item,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-2 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refers to the second last item etc.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/>
            </a:br>
            <a:r>
              <a:rPr b="1" lang="en-US" sz="2200"/>
              <a:t>	</a:t>
            </a:r>
            <a:r>
              <a:rPr b="1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	</a:t>
            </a:r>
            <a:endParaRPr b="1" sz="9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cherry</a:t>
            </a:r>
            <a:endParaRPr/>
          </a:p>
        </p:txBody>
      </p:sp>
      <p:graphicFrame>
        <p:nvGraphicFramePr>
          <p:cNvPr id="545" name="Google Shape;545;p62"/>
          <p:cNvGraphicFramePr/>
          <p:nvPr/>
        </p:nvGraphicFramePr>
        <p:xfrm>
          <a:off x="8116582" y="22337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</a:tblGrid>
              <a:tr h="778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46" name="Google Shape;546;p62"/>
          <p:cNvGraphicFramePr/>
          <p:nvPr/>
        </p:nvGraphicFramePr>
        <p:xfrm>
          <a:off x="8116582" y="18679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547" name="Google Shape;547;p62"/>
          <p:cNvGraphicFramePr/>
          <p:nvPr/>
        </p:nvGraphicFramePr>
        <p:xfrm>
          <a:off x="8116582" y="49900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</a:tblGrid>
              <a:tr h="778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48" name="Google Shape;548;p62"/>
          <p:cNvGraphicFramePr/>
          <p:nvPr/>
        </p:nvGraphicFramePr>
        <p:xfrm>
          <a:off x="8116582" y="57945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3"/>
          <p:cNvSpPr txBox="1"/>
          <p:nvPr>
            <p:ph idx="1" type="body"/>
          </p:nvPr>
        </p:nvSpPr>
        <p:spPr>
          <a:xfrm>
            <a:off x="267129" y="847164"/>
            <a:ext cx="11924872" cy="6494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When specifying a range, the return value will be a new tuple with the specified items.</a:t>
            </a:r>
            <a:endParaRPr b="1" i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 b="1" i="1" sz="1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 the third, fourth, and fifth item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i="1" lang="en-US" sz="24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Note:</a:t>
            </a:r>
            <a:r>
              <a:rPr i="1" lang="en-US" sz="24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 The search will start at index 2 (included) and end at index 5 (not included).</a:t>
            </a:r>
            <a:endParaRPr b="1" i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thistuple=(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/>
            </a:br>
            <a:r>
              <a:rPr b="1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b="1" lang="en-US" sz="2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('cherry', 'orange', 'kiwi')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8135"/>
              </a:buClr>
              <a:buSzPts val="1800"/>
              <a:buNone/>
            </a:pPr>
            <a:r>
              <a:rPr i="1" lang="en-US" sz="1800">
                <a:solidFill>
                  <a:srgbClr val="548135"/>
                </a:solidFill>
                <a:latin typeface="Constantia"/>
                <a:ea typeface="Constantia"/>
                <a:cs typeface="Constantia"/>
                <a:sym typeface="Constantia"/>
              </a:rPr>
              <a:t>------------------------------------------------------------------------------------------------------------------------------------------</a:t>
            </a:r>
            <a:endParaRPr/>
          </a:p>
        </p:txBody>
      </p:sp>
      <p:graphicFrame>
        <p:nvGraphicFramePr>
          <p:cNvPr id="554" name="Google Shape;554;p63"/>
          <p:cNvGraphicFramePr/>
          <p:nvPr/>
        </p:nvGraphicFramePr>
        <p:xfrm>
          <a:off x="1726057" y="57665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orange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kiwi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mango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55" name="Google Shape;555;p63"/>
          <p:cNvGraphicFramePr/>
          <p:nvPr/>
        </p:nvGraphicFramePr>
        <p:xfrm>
          <a:off x="1726057" y="54008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4"/>
          <p:cNvSpPr txBox="1"/>
          <p:nvPr>
            <p:ph idx="1" type="body"/>
          </p:nvPr>
        </p:nvSpPr>
        <p:spPr>
          <a:xfrm>
            <a:off x="318499" y="1017142"/>
            <a:ext cx="11794732" cy="5159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returns the items from the beginning to, but NOT included, "kiwi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thistuple=(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/>
            </a:br>
            <a:r>
              <a:rPr b="1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(thistuple[: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 </a:t>
            </a:r>
            <a:r>
              <a:rPr b="1" lang="en-US" sz="2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b="1" sz="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</a:pPr>
            <a:r>
              <a:rPr b="1" lang="en-US" sz="2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</a:pPr>
            <a:r>
              <a:rPr lang="en-US" sz="2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('apple', 'banana', 'cherry', 'orange')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561" name="Google Shape;561;p64"/>
          <p:cNvGraphicFramePr/>
          <p:nvPr/>
        </p:nvGraphicFramePr>
        <p:xfrm>
          <a:off x="1726057" y="48419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1078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orange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kiwi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mango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2" name="Google Shape;562;p64"/>
          <p:cNvGraphicFramePr/>
          <p:nvPr/>
        </p:nvGraphicFramePr>
        <p:xfrm>
          <a:off x="1726057" y="4476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5"/>
          <p:cNvSpPr txBox="1"/>
          <p:nvPr>
            <p:ph idx="1" type="body"/>
          </p:nvPr>
        </p:nvSpPr>
        <p:spPr>
          <a:xfrm>
            <a:off x="236306" y="941293"/>
            <a:ext cx="11955694" cy="5607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"/>
              <a:buNone/>
            </a:pPr>
            <a:r>
              <a:t/>
            </a:r>
            <a:endParaRPr b="1" i="1" sz="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i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returns the items from "cherry" and to the end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=(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/>
            </a:br>
            <a:r>
              <a:rPr b="1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800">
                <a:solidFill>
                  <a:schemeClr val="accent6"/>
                </a:solidFill>
              </a:rPr>
              <a:t> ('cherry', 'orange', 'kiwi', 'melon', 'mango')</a:t>
            </a:r>
            <a:endParaRPr b="1" sz="40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68" name="Google Shape;568;p65"/>
          <p:cNvGraphicFramePr/>
          <p:nvPr/>
        </p:nvGraphicFramePr>
        <p:xfrm>
          <a:off x="1726057" y="48419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1078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orange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kiwi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mango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9" name="Google Shape;569;p65"/>
          <p:cNvGraphicFramePr/>
          <p:nvPr/>
        </p:nvGraphicFramePr>
        <p:xfrm>
          <a:off x="1726057" y="44761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6"/>
          <p:cNvSpPr txBox="1"/>
          <p:nvPr>
            <p:ph idx="1" type="body"/>
          </p:nvPr>
        </p:nvSpPr>
        <p:spPr>
          <a:xfrm>
            <a:off x="226031" y="996593"/>
            <a:ext cx="11876925" cy="5180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Range of Negative Indexes: </a:t>
            </a:r>
            <a:r>
              <a:rPr lang="en-US" sz="2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Specify negative indexes if you want to start the search from the end of the tuple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returns the items from index -4 (included) to index -1 (excluded)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thistuple=(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"melon"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/>
            </a:br>
            <a:r>
              <a:rPr b="1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(thistuple[-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:-</a:t>
            </a:r>
            <a:r>
              <a:rPr b="1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</a:pPr>
            <a:r>
              <a:rPr b="1" lang="en-US" sz="2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</a:pPr>
            <a:r>
              <a:rPr lang="en-US" sz="2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('orange', 'kiwi', 'melon')</a:t>
            </a:r>
            <a:endParaRPr>
              <a:solidFill>
                <a:schemeClr val="accent6"/>
              </a:solidFill>
            </a:endParaRPr>
          </a:p>
        </p:txBody>
      </p:sp>
      <p:graphicFrame>
        <p:nvGraphicFramePr>
          <p:cNvPr id="575" name="Google Shape;575;p66"/>
          <p:cNvGraphicFramePr/>
          <p:nvPr/>
        </p:nvGraphicFramePr>
        <p:xfrm>
          <a:off x="1808250" y="50981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1078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apple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banana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cherry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orange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kiwi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melon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mango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6" name="Google Shape;576;p66"/>
          <p:cNvGraphicFramePr/>
          <p:nvPr/>
        </p:nvGraphicFramePr>
        <p:xfrm>
          <a:off x="1808250" y="61769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1146300"/>
                <a:gridCol w="1146300"/>
                <a:gridCol w="1146300"/>
                <a:gridCol w="1146300"/>
                <a:gridCol w="1146300"/>
                <a:gridCol w="1146300"/>
                <a:gridCol w="11463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-1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67"/>
          <p:cNvSpPr txBox="1"/>
          <p:nvPr>
            <p:ph idx="1" type="body"/>
          </p:nvPr>
        </p:nvSpPr>
        <p:spPr>
          <a:xfrm>
            <a:off x="563187" y="1075765"/>
            <a:ext cx="10987835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Change Tuple Values: </a:t>
            </a:r>
            <a:r>
              <a:rPr lang="en-US" sz="2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Once a tuple is created, you cannot change its values - </a:t>
            </a:r>
            <a:r>
              <a:rPr b="1" i="1" lang="en-US" sz="2200">
                <a:latin typeface="Constantia"/>
                <a:ea typeface="Constantia"/>
                <a:cs typeface="Constantia"/>
                <a:sym typeface="Constantia"/>
              </a:rPr>
              <a:t>unchangeable</a:t>
            </a: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or </a:t>
            </a:r>
            <a:r>
              <a:rPr b="1" i="1" lang="en-US" sz="2200">
                <a:latin typeface="Constantia"/>
                <a:ea typeface="Constantia"/>
                <a:cs typeface="Constantia"/>
                <a:sym typeface="Constantia"/>
              </a:rPr>
              <a:t>immutable</a:t>
            </a: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.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	But there is a workaround. You can convert the tuple into a list, change the list, and convert the list back into a tuple.</a:t>
            </a:r>
            <a:endParaRPr sz="22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i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(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 </a:t>
            </a:r>
            <a:r>
              <a:rPr b="1" i="0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(x)</a:t>
            </a:r>
            <a:br>
              <a:rPr b="1"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y[</a:t>
            </a:r>
            <a:r>
              <a:rPr b="1" i="0" lang="en-US" sz="2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 = 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"kiwi"</a:t>
            </a:r>
            <a:br>
              <a:rPr b="1"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 </a:t>
            </a:r>
            <a:r>
              <a:rPr b="1" i="0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tuple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(y)</a:t>
            </a:r>
            <a:br>
              <a:rPr b="1"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(x)</a:t>
            </a:r>
            <a:endParaRPr b="1"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</a:pPr>
            <a:r>
              <a:rPr b="1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</a:pPr>
            <a:r>
              <a:rPr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("apple", "kiwi", "cherry")</a:t>
            </a:r>
            <a:endParaRPr b="1" sz="22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8"/>
          <p:cNvSpPr txBox="1"/>
          <p:nvPr>
            <p:ph idx="1" type="body"/>
          </p:nvPr>
        </p:nvSpPr>
        <p:spPr>
          <a:xfrm>
            <a:off x="618565" y="1062318"/>
            <a:ext cx="10932457" cy="47468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Add Items: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Since tuples are immutable, they do not have a built-in append() method, but there are other ways to add items to a tuple.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1. Convert into a list: 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Just like the workaround for changing a tuple, you can convert it into a list, add your item(s), and convert it back into a tuple.</a:t>
            </a:r>
            <a:endParaRPr i="1" sz="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 </a:t>
            </a:r>
            <a:r>
              <a:rPr b="1" i="0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br>
              <a:rPr b="1"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y.append(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 </a:t>
            </a:r>
            <a:r>
              <a:rPr b="1" i="0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tuple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(y)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('apple', 'banana', 'cherry', 'orange')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9"/>
          <p:cNvSpPr txBox="1"/>
          <p:nvPr>
            <p:ph idx="1" type="body"/>
          </p:nvPr>
        </p:nvSpPr>
        <p:spPr>
          <a:xfrm>
            <a:off x="605118" y="1008529"/>
            <a:ext cx="10932457" cy="5661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Add Items</a:t>
            </a:r>
            <a:r>
              <a:rPr i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(continue)</a:t>
            </a: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2. </a:t>
            </a: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Add tuple to a tuple: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You are allowed to add tuples to tuples, so if you want to add one item, (or many), create a new tuple with the item(s), and add it to the existing tuple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	</a:t>
            </a:r>
            <a:br>
              <a:rPr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(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"orange"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 "watermelon"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</a:t>
            </a: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= thistuple +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y</a:t>
            </a:r>
            <a:br>
              <a:rPr b="1"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</a:pPr>
            <a:r>
              <a:rPr b="1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</a:pPr>
            <a:r>
              <a:rPr b="1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0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('apple', 'banana', 'cherry', 'orange', 'watermelon')</a:t>
            </a:r>
            <a:endParaRPr b="1" sz="2200">
              <a:solidFill>
                <a:schemeClr val="accent6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70"/>
          <p:cNvSpPr txBox="1"/>
          <p:nvPr>
            <p:ph idx="1" type="body"/>
          </p:nvPr>
        </p:nvSpPr>
        <p:spPr>
          <a:xfrm>
            <a:off x="560294" y="766482"/>
            <a:ext cx="10932457" cy="5930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Remove Items: 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Tuples are unchangeable, so you cannot remove items from it, but you can use the same workaround as we used for changing and adding tuple items</a:t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 </a:t>
            </a:r>
            <a:r>
              <a:rPr b="1" i="0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y.remove(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 </a:t>
            </a:r>
            <a:r>
              <a:rPr b="1" i="0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tuple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(y)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0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('banana', 'cherry')</a:t>
            </a:r>
            <a:endParaRPr b="1" sz="1800">
              <a:solidFill>
                <a:schemeClr val="accent6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del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thistuple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(thistuple)</a:t>
            </a:r>
            <a:r>
              <a:rPr b="1" i="0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i="0" lang="en-US" sz="18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#this will raise an error because the tuple no longer exists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0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NameError: name 'thistuple' is not defined</a:t>
            </a:r>
            <a:endParaRPr b="1" sz="1800">
              <a:solidFill>
                <a:schemeClr val="accent6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1"/>
          <p:cNvSpPr txBox="1"/>
          <p:nvPr>
            <p:ph idx="1" type="body"/>
          </p:nvPr>
        </p:nvSpPr>
        <p:spPr>
          <a:xfrm>
            <a:off x="484095" y="658908"/>
            <a:ext cx="10932457" cy="6696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Unpacking a Tuple: 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When we create a tuple, we normally assign values to it. This is called </a:t>
            </a: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"packing"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a tuple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fruits = (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(fruits)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0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('apple', 'banana', 'cherry')</a:t>
            </a:r>
            <a:endParaRPr b="1" sz="1800">
              <a:solidFill>
                <a:schemeClr val="accent6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But, in Python, we are also allowed to extract the values back into variables. This is called </a:t>
            </a:r>
            <a:r>
              <a:rPr b="1" i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"unpacking"</a:t>
            </a:r>
            <a:r>
              <a:rPr i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fruits = (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var1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var2, var3) = fruits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var1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(var2)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var3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banana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cherry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C55A11"/>
              </a:buClr>
              <a:buSzPts val="1800"/>
              <a:buNone/>
            </a:pPr>
            <a:r>
              <a:rPr b="1" i="1" lang="en-US" sz="1800">
                <a:solidFill>
                  <a:srgbClr val="C55A11"/>
                </a:solidFill>
              </a:rPr>
              <a:t>Note:</a:t>
            </a:r>
            <a:r>
              <a:rPr i="1" lang="en-US" sz="1800">
                <a:solidFill>
                  <a:srgbClr val="C55A11"/>
                </a:solidFill>
              </a:rPr>
              <a:t> The number of variables must match the number of values in the tuple, if not, you must use an * </a:t>
            </a:r>
            <a:r>
              <a:rPr b="1" i="1" lang="en-US" sz="1800">
                <a:solidFill>
                  <a:srgbClr val="C55A11"/>
                </a:solidFill>
              </a:rPr>
              <a:t>asterisk</a:t>
            </a:r>
            <a:r>
              <a:rPr i="1" lang="en-US" sz="1800">
                <a:solidFill>
                  <a:srgbClr val="C55A11"/>
                </a:solidFill>
              </a:rPr>
              <a:t> to collect the remaining values as a list.</a:t>
            </a:r>
            <a:endParaRPr i="1" sz="1800">
              <a:solidFill>
                <a:srgbClr val="C55A1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2"/>
          <p:cNvSpPr txBox="1"/>
          <p:nvPr>
            <p:ph idx="1" type="body"/>
          </p:nvPr>
        </p:nvSpPr>
        <p:spPr>
          <a:xfrm>
            <a:off x="502025" y="820271"/>
            <a:ext cx="11268634" cy="621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Using Asterisk 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b="1" lang="en-US" sz="24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: </a:t>
            </a:r>
            <a:r>
              <a:rPr lang="en-US" sz="24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If the number of variables is less than the number of values, you can add an * to the variable name and the values will be assigned to the variable as a list</a:t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937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fruits = ("apple","banana","cherry","strawberry","raspberry")</a:t>
            </a:r>
            <a:endParaRPr/>
          </a:p>
          <a:p>
            <a:pPr indent="0" lvl="0" marL="8937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(var1, var2, *var3) = fruits</a:t>
            </a:r>
            <a:endParaRPr/>
          </a:p>
          <a:p>
            <a:pPr indent="0" lvl="0" marL="8937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200"/>
              <a:buNone/>
            </a:pPr>
            <a:r>
              <a:rPr b="1" i="0" lang="en-US" sz="2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(var1)</a:t>
            </a:r>
            <a:endParaRPr/>
          </a:p>
          <a:p>
            <a:pPr indent="0" lvl="0" marL="8937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B0F0"/>
              </a:buClr>
              <a:buSzPts val="2200"/>
              <a:buNone/>
            </a:pPr>
            <a:r>
              <a:rPr b="1" i="0" lang="en-US" sz="22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(var2)</a:t>
            </a:r>
            <a:endParaRPr/>
          </a:p>
          <a:p>
            <a:pPr indent="0" lvl="0" marL="8937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200"/>
              <a:buNone/>
            </a:pPr>
            <a:r>
              <a:rPr b="1" i="0" lang="en-US" sz="220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(var3)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</a:pPr>
            <a:r>
              <a:rPr b="1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</a:pPr>
            <a:r>
              <a:rPr b="1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0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</a:pPr>
            <a:r>
              <a:rPr i="0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banana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</a:pPr>
            <a:r>
              <a:rPr i="0" lang="en-US" sz="22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['cherry', 'strawberry', 'raspberry']</a:t>
            </a:r>
            <a:endParaRPr b="1" sz="2200">
              <a:solidFill>
                <a:schemeClr val="accent6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73"/>
          <p:cNvSpPr txBox="1"/>
          <p:nvPr>
            <p:ph idx="1" type="body"/>
          </p:nvPr>
        </p:nvSpPr>
        <p:spPr>
          <a:xfrm>
            <a:off x="551330" y="927847"/>
            <a:ext cx="11452411" cy="621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Using Asterisk </a:t>
            </a: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i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(continue)</a:t>
            </a: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:</a:t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fruits = (</a:t>
            </a:r>
            <a:r>
              <a:rPr b="1" i="0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i="0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1" i="0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"papaya"</a:t>
            </a:r>
            <a:r>
              <a:rPr b="1" i="0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"pineapple"</a:t>
            </a:r>
            <a:r>
              <a:rPr b="1" i="0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4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i="0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400"/>
            </a:br>
            <a:r>
              <a:rPr b="1" lang="en-US" sz="2400"/>
              <a:t>	</a:t>
            </a:r>
            <a:r>
              <a:rPr b="1" i="0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(green, *tropic, red) = fruits</a:t>
            </a:r>
            <a:br>
              <a:rPr b="1" lang="en-US" sz="2400"/>
            </a:br>
            <a:r>
              <a:rPr b="1" lang="en-US" sz="2400"/>
              <a:t>	</a:t>
            </a:r>
            <a:r>
              <a:rPr b="1" i="0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(green)</a:t>
            </a:r>
            <a:br>
              <a:rPr b="1" lang="en-US" sz="2400"/>
            </a:br>
            <a:r>
              <a:rPr b="1" lang="en-US" sz="2400"/>
              <a:t>	</a:t>
            </a:r>
            <a:r>
              <a:rPr b="1" i="0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(tropic)</a:t>
            </a:r>
            <a:br>
              <a:rPr b="1" lang="en-US" sz="2400"/>
            </a:br>
            <a:r>
              <a:rPr b="1" lang="en-US" sz="2400"/>
              <a:t>	</a:t>
            </a:r>
            <a:r>
              <a:rPr b="1" i="0" lang="en-US" sz="24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(red)</a:t>
            </a:r>
            <a:endParaRPr b="1" sz="24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['mango', 'papaya', 'pineapple']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cherry	</a:t>
            </a:r>
            <a:endParaRPr sz="2400">
              <a:solidFill>
                <a:schemeClr val="accent6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4"/>
          <p:cNvSpPr txBox="1"/>
          <p:nvPr>
            <p:ph idx="1" type="body"/>
          </p:nvPr>
        </p:nvSpPr>
        <p:spPr>
          <a:xfrm>
            <a:off x="605118" y="995082"/>
            <a:ext cx="10932457" cy="621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Loop Through a Tuple: </a:t>
            </a:r>
            <a:r>
              <a:rPr lang="en-US" sz="22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You can loop through the tuple items by using a for loop</a:t>
            </a:r>
            <a:endParaRPr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i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i="1"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b="1"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</a:pPr>
            <a:r>
              <a:rPr b="1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thistuple = (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22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x </a:t>
            </a:r>
            <a:r>
              <a:rPr b="1" i="0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thistuple:</a:t>
            </a:r>
            <a:br>
              <a:rPr b="1" lang="en-US" sz="2200"/>
            </a:br>
            <a:r>
              <a:rPr b="1" lang="en-US" sz="2200"/>
              <a:t>	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  </a:t>
            </a:r>
            <a:r>
              <a:rPr b="1" i="0" lang="en-US" sz="22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(x)</a:t>
            </a:r>
            <a:endParaRPr b="1"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banana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cherry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b="1" i="1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Note: </a:t>
            </a:r>
            <a:r>
              <a:rPr i="1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We can also use </a:t>
            </a:r>
            <a:r>
              <a:rPr b="1" i="1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i="1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and </a:t>
            </a:r>
            <a:r>
              <a:rPr b="1" i="1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do-while </a:t>
            </a:r>
            <a:r>
              <a:rPr i="1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endParaRPr i="1"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75"/>
          <p:cNvSpPr txBox="1"/>
          <p:nvPr>
            <p:ph idx="1" type="body"/>
          </p:nvPr>
        </p:nvSpPr>
        <p:spPr>
          <a:xfrm>
            <a:off x="632013" y="645459"/>
            <a:ext cx="10932457" cy="621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Join Two Tuples: 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To join two or more tuples you can use the </a:t>
            </a: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operator</a:t>
            </a:r>
            <a:endParaRPr b="1" i="1" sz="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						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tuple1 = (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tuple2 = (</a:t>
            </a:r>
            <a:r>
              <a:rPr b="1" i="0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tuple3 = tuple1 + tuple2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(tuple3)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('a', 'b', 'c', 1, 2, 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Constantia"/>
                <a:ea typeface="Constantia"/>
                <a:cs typeface="Constantia"/>
                <a:sym typeface="Constantia"/>
              </a:rPr>
              <a:t>Multiply Tuples: 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If you want to multiply the content of a tuple a given number of times, you can use the </a:t>
            </a:r>
            <a:r>
              <a:rPr b="1" lang="en-US" sz="1800">
                <a:latin typeface="Constantia"/>
                <a:ea typeface="Constantia"/>
                <a:cs typeface="Constantia"/>
                <a:sym typeface="Constantia"/>
              </a:rPr>
              <a:t>*</a:t>
            </a:r>
            <a:r>
              <a:rPr lang="en-US" sz="1800">
                <a:latin typeface="Constantia"/>
                <a:ea typeface="Constantia"/>
                <a:cs typeface="Constantia"/>
                <a:sym typeface="Constantia"/>
              </a:rPr>
              <a:t> operator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1" i="0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fruits = (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 </a:t>
            </a:r>
            <a:r>
              <a:rPr b="1" i="0" lang="en-US" sz="1800">
                <a:solidFill>
                  <a:srgbClr val="A52A2A"/>
                </a:solidFill>
                <a:latin typeface="Consolas"/>
                <a:ea typeface="Consolas"/>
                <a:cs typeface="Consolas"/>
                <a:sym typeface="Consolas"/>
              </a:rPr>
              <a:t>"cherry"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mytuple = fruits * </a:t>
            </a:r>
            <a:r>
              <a:rPr b="1" i="0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br>
              <a:rPr b="1" lang="en-US" sz="1800"/>
            </a:br>
            <a:r>
              <a:rPr b="1" lang="en-US" sz="1800"/>
              <a:t>	</a:t>
            </a:r>
            <a:r>
              <a:rPr b="1" i="0" lang="en-US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1" i="0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(mytuple)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('apple', 'banana', 'cherry', 'apple', 'banana', 'cherry')</a:t>
            </a:r>
            <a:endParaRPr sz="1800">
              <a:solidFill>
                <a:schemeClr val="accent6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6"/>
          <p:cNvSpPr txBox="1"/>
          <p:nvPr>
            <p:ph idx="1" type="body"/>
          </p:nvPr>
        </p:nvSpPr>
        <p:spPr>
          <a:xfrm>
            <a:off x="576634" y="981633"/>
            <a:ext cx="10987835" cy="4935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Tuples and Functions: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▪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utility functions like </a:t>
            </a:r>
            <a:r>
              <a:rPr b="1"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max(), min(), sum(), len() etc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can be used on tuples. Hence most of the operations will be easy without the usage of loops.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tu=(3,12,5,26,32,1,4)					tu=(3,12,5,26,32,1,4)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max(tu) 						min(tu)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32	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			</a:t>
            </a: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-------------------------------------------------------------------------------------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sum(tu) 						 len(tu) 	</a:t>
            </a:r>
            <a:endParaRPr b="1" sz="180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b="1" lang="en-US" sz="18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83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				 </a:t>
            </a: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7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</a:t>
            </a:r>
            <a:r>
              <a:rPr b="1" lang="en-US" sz="180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avg=sum(tu)/len(tu)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print(avg)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11.857142857142858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27" name="Google Shape;627;p76"/>
          <p:cNvCxnSpPr/>
          <p:nvPr/>
        </p:nvCxnSpPr>
        <p:spPr>
          <a:xfrm>
            <a:off x="5986977" y="2716306"/>
            <a:ext cx="73164" cy="3200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7"/>
          <p:cNvSpPr txBox="1"/>
          <p:nvPr>
            <p:ph idx="1" type="body"/>
          </p:nvPr>
        </p:nvSpPr>
        <p:spPr>
          <a:xfrm>
            <a:off x="466761" y="658905"/>
            <a:ext cx="10987835" cy="6199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Sorted Function: The sorted() function returns a sorted list of the specified iterable object.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sorted(iterable, key=key, reverse=reverse)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i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tuple1 = (22,11,33)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 = sorted(tuple1)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</a:t>
            </a: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ls)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[11, 22, 33]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tuple1 = (22,11,33)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ls = sorted(tuple1,reverse=True)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</a:t>
            </a: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ls)</a:t>
            </a:r>
            <a:b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 [33, 22, 11]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633" name="Google Shape;633;p77"/>
          <p:cNvGraphicFramePr/>
          <p:nvPr/>
        </p:nvGraphicFramePr>
        <p:xfrm>
          <a:off x="737404" y="201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{EAC7BC0C-FBEC-469B-B0C9-CF68428DB30A}</a:tableStyleId>
              </a:tblPr>
              <a:tblGrid>
                <a:gridCol w="1263900"/>
                <a:gridCol w="9453275"/>
              </a:tblGrid>
              <a:tr h="392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iterable</a:t>
                      </a:r>
                      <a:endParaRPr sz="1800" u="none" cap="none" strike="noStrike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Required. The sequence to sort, list, dictionary, tuple etc.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42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key</a:t>
                      </a:r>
                      <a:endParaRPr sz="1800" u="none" cap="none" strike="noStrike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Optional. A Function to execute to decide the order. Default is None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 u="none" cap="none" strike="noStrike"/>
                        <a:t>reverse</a:t>
                      </a:r>
                      <a:endParaRPr sz="1800" u="none" cap="none" strike="noStrike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Optional. A Boolean. False will sort ascending, True will sort descending. Default is False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8"/>
          <p:cNvSpPr txBox="1"/>
          <p:nvPr>
            <p:ph idx="1" type="body"/>
          </p:nvPr>
        </p:nvSpPr>
        <p:spPr>
          <a:xfrm>
            <a:off x="602082" y="770963"/>
            <a:ext cx="10987835" cy="5764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Utility of tuples: divmod()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The divmod() function returns a tuple containing the quotient  and the remainder when argument1 (dividend) is divided by argument2 (divisor).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 divmod(dividend, divisor)</a:t>
            </a:r>
            <a:b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val = divmod(100,3)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i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q</a:t>
            </a: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uo, rem = val         </a:t>
            </a:r>
            <a:r>
              <a:rPr b="1" lang="en-US" sz="2000">
                <a:solidFill>
                  <a:srgbClr val="A8D08C"/>
                </a:solidFill>
                <a:latin typeface="Consolas"/>
                <a:ea typeface="Consolas"/>
                <a:cs typeface="Consolas"/>
                <a:sym typeface="Consolas"/>
              </a:rPr>
              <a:t>#unpacking the tuple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print(“Quotient: ”, quo)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print(“Remainder: ”, rem)</a:t>
            </a: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 sz="24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</a:pPr>
            <a:r>
              <a:rPr b="1" i="1" lang="en-US" sz="20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0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Quotient: 33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</a:pPr>
            <a:r>
              <a:rPr b="1" lang="en-US" sz="20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Remainder: 1</a:t>
            </a:r>
            <a:endParaRPr b="1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79"/>
          <p:cNvSpPr txBox="1"/>
          <p:nvPr>
            <p:ph idx="1" type="body"/>
          </p:nvPr>
        </p:nvSpPr>
        <p:spPr>
          <a:xfrm>
            <a:off x="579042" y="1048870"/>
            <a:ext cx="10987835" cy="5593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Tuples for returning multiple values: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     Tuples can be returned from functions just like any other data type in Python.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      To return a tuple from a function, we simply need to separate the values with commas.</a:t>
            </a:r>
            <a:endParaRPr b="1" i="1" sz="2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i="1"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def calculate_average(numbers):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total = sum(numbers)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count = len(numbers)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average = total / count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return total, count, average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result = calculate_average([1, 2, 3, 4, 5])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print(result)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1" sz="2400">
              <a:solidFill>
                <a:srgbClr val="00B05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400"/>
              <a:buNone/>
            </a:pPr>
            <a:r>
              <a:rPr b="1" i="1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Output: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B050"/>
              </a:buClr>
              <a:buSzPts val="2400"/>
              <a:buNone/>
            </a:pPr>
            <a:r>
              <a:rPr b="1" i="1"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(15, 5, 3.0)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0"/>
          <p:cNvSpPr txBox="1"/>
          <p:nvPr>
            <p:ph idx="1" type="body"/>
          </p:nvPr>
        </p:nvSpPr>
        <p:spPr>
          <a:xfrm>
            <a:off x="681445" y="811166"/>
            <a:ext cx="10515600" cy="395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nested tuples: </a:t>
            </a:r>
            <a:r>
              <a:rPr lang="en-US"/>
              <a:t>a tuple written inside another tuple is known as a nested tuple. </a:t>
            </a:r>
            <a:endParaRPr b="1" sz="2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tup = ( 10, 40, 50, 60, (100, 200, 300))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	print('Nested tuple : ', tup[4])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	print('Nested tuple element : ',tup[4][1])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 sz="2400">
                <a:solidFill>
                  <a:schemeClr val="accent6"/>
                </a:solidFill>
              </a:rPr>
              <a:t>Output: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Nested tuple: (100, 200, 300)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b="1" lang="en-US" sz="24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	Nested tuple element : 200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649" name="Google Shape;649;p80"/>
          <p:cNvGraphicFramePr/>
          <p:nvPr/>
        </p:nvGraphicFramePr>
        <p:xfrm>
          <a:off x="1638972" y="55422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{CDD3DBB5-A984-4F92-AD72-44BE094A7E41}</a:tableStyleId>
              </a:tblPr>
              <a:tblGrid>
                <a:gridCol w="638525"/>
                <a:gridCol w="665950"/>
                <a:gridCol w="561500"/>
                <a:gridCol w="613725"/>
                <a:gridCol w="3536150"/>
              </a:tblGrid>
              <a:tr h="1009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40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50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60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50" name="Google Shape;650;p80"/>
          <p:cNvGraphicFramePr/>
          <p:nvPr/>
        </p:nvGraphicFramePr>
        <p:xfrm>
          <a:off x="4560389" y="59187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{5DBC014E-0952-427E-8424-E9D68D74DED1}</a:tableStyleId>
              </a:tblPr>
              <a:tblGrid>
                <a:gridCol w="944400"/>
                <a:gridCol w="944400"/>
                <a:gridCol w="944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300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51" name="Google Shape;651;p80"/>
          <p:cNvGraphicFramePr/>
          <p:nvPr/>
        </p:nvGraphicFramePr>
        <p:xfrm>
          <a:off x="1638973" y="51764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573000"/>
                <a:gridCol w="670550"/>
                <a:gridCol w="539925"/>
                <a:gridCol w="679275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652" name="Google Shape;652;p80"/>
          <p:cNvGraphicFramePr/>
          <p:nvPr/>
        </p:nvGraphicFramePr>
        <p:xfrm>
          <a:off x="4560389" y="55529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910250"/>
                <a:gridCol w="1065225"/>
                <a:gridCol w="857725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[4][0]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[4][1]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[4][2]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653" name="Google Shape;653;p80"/>
          <p:cNvGraphicFramePr/>
          <p:nvPr/>
        </p:nvGraphicFramePr>
        <p:xfrm>
          <a:off x="4101736" y="5180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{FA607EBE-375D-4619-A835-4114AC1FA41E}</a:tableStyleId>
              </a:tblPr>
              <a:tblGrid>
                <a:gridCol w="3553100"/>
              </a:tblGrid>
              <a:tr h="28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81"/>
          <p:cNvSpPr txBox="1"/>
          <p:nvPr>
            <p:ph idx="1" type="body"/>
          </p:nvPr>
        </p:nvSpPr>
        <p:spPr>
          <a:xfrm>
            <a:off x="579042" y="1048870"/>
            <a:ext cx="10987835" cy="55939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i="1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Zip() function: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	zip() function is a built-in function that is used to combine two or more iterables into a single iterable.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	This function takes in any number of iterables (lists, tuples, sets, etc.) as arguments and returns an iterator that aggregates elements from each of the iterables into </a:t>
            </a:r>
            <a:r>
              <a:rPr b="1" lang="en-US" sz="2400">
                <a:latin typeface="Cambria"/>
                <a:ea typeface="Cambria"/>
                <a:cs typeface="Cambria"/>
                <a:sym typeface="Cambria"/>
              </a:rPr>
              <a:t>tuples</a:t>
            </a:r>
            <a:r>
              <a:rPr lang="en-US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i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i="1" lang="en-US" sz="2000">
                <a:latin typeface="Consolas"/>
                <a:ea typeface="Consolas"/>
                <a:cs typeface="Consolas"/>
                <a:sym typeface="Consolas"/>
              </a:rPr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Consolas"/>
                <a:ea typeface="Consolas"/>
                <a:cs typeface="Consolas"/>
                <a:sym typeface="Consolas"/>
              </a:rPr>
              <a:t>	numList=['apple','banana','grapes’]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Consolas"/>
                <a:ea typeface="Consolas"/>
                <a:cs typeface="Consolas"/>
                <a:sym typeface="Consolas"/>
              </a:rPr>
              <a:t>	strList=['red','yellow','purple’]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Consolas"/>
                <a:ea typeface="Consolas"/>
                <a:cs typeface="Consolas"/>
                <a:sym typeface="Consolas"/>
              </a:rPr>
              <a:t>	result=tuple(zip(numList,strList))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latin typeface="Consolas"/>
                <a:ea typeface="Consolas"/>
                <a:cs typeface="Consolas"/>
                <a:sym typeface="Consolas"/>
              </a:rPr>
              <a:t>	print(result)				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i="1" sz="24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59" name="Google Shape;659;p81"/>
          <p:cNvSpPr/>
          <p:nvPr/>
        </p:nvSpPr>
        <p:spPr>
          <a:xfrm>
            <a:off x="1442916" y="5259358"/>
            <a:ext cx="7602471" cy="892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chemeClr val="accent6"/>
                </a:solidFill>
                <a:latin typeface="Cambria"/>
                <a:ea typeface="Cambria"/>
                <a:cs typeface="Cambria"/>
                <a:sym typeface="Cambria"/>
              </a:rPr>
              <a:t>Output: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1" i="0" sz="1600" u="none" cap="none" strike="noStrike">
              <a:solidFill>
                <a:schemeClr val="accent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Cambria Math"/>
              <a:buNone/>
            </a:pPr>
            <a:r>
              <a:rPr b="1" lang="en-US" sz="1800">
                <a:solidFill>
                  <a:schemeClr val="accent6"/>
                </a:solidFill>
                <a:latin typeface="Cambria Math"/>
                <a:ea typeface="Cambria Math"/>
                <a:cs typeface="Cambria Math"/>
                <a:sym typeface="Cambria Math"/>
              </a:rPr>
              <a:t>(</a:t>
            </a:r>
            <a:r>
              <a:rPr b="1" i="0" lang="en-US" sz="1800" u="none" cap="none" strike="noStrike">
                <a:solidFill>
                  <a:schemeClr val="accent6"/>
                </a:solidFill>
                <a:latin typeface="Cambria Math"/>
                <a:ea typeface="Cambria Math"/>
                <a:cs typeface="Cambria Math"/>
                <a:sym typeface="Cambria Math"/>
              </a:rPr>
              <a:t>('banana', 'yellow'), ('apple', 'red'), ('grapes', 'purple’))</a:t>
            </a:r>
            <a:endParaRPr b="1" i="0" sz="2800" u="none" cap="none" strike="noStrike">
              <a:solidFill>
                <a:schemeClr val="accent6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6000"/>
              <a:buFont typeface="Times New Roman"/>
              <a:buNone/>
            </a:pPr>
            <a:r>
              <a:rPr lang="en-US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SETS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3"/>
          <p:cNvSpPr/>
          <p:nvPr/>
        </p:nvSpPr>
        <p:spPr>
          <a:xfrm>
            <a:off x="546846" y="821979"/>
            <a:ext cx="11044518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Sets: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set is a collection which is unordered, unchangeable*, and unindexed.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Set items are unchangeable, but you can remove items and add new items.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set is created by placing all the elements inside curly braces {},  separated by comma or by using the built-in function set(). The elements can be of different types (integer, float, tuple, string  etc.).</a:t>
            </a:r>
            <a:endParaRPr/>
          </a:p>
        </p:txBody>
      </p:sp>
      <p:sp>
        <p:nvSpPr>
          <p:cNvPr id="670" name="Google Shape;670;p83"/>
          <p:cNvSpPr/>
          <p:nvPr/>
        </p:nvSpPr>
        <p:spPr>
          <a:xfrm>
            <a:off x="7996518" y="4063156"/>
            <a:ext cx="293594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{1,2,3,4}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{class, ‘dict’}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{class, ‘set’}</a:t>
            </a:r>
            <a:endParaRPr/>
          </a:p>
        </p:txBody>
      </p:sp>
      <p:sp>
        <p:nvSpPr>
          <p:cNvPr id="671" name="Google Shape;671;p83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83"/>
          <p:cNvSpPr/>
          <p:nvPr/>
        </p:nvSpPr>
        <p:spPr>
          <a:xfrm>
            <a:off x="1037662" y="3543032"/>
            <a:ext cx="6680950" cy="28981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4"/>
          <p:cNvSpPr txBox="1"/>
          <p:nvPr>
            <p:ph idx="1" type="body"/>
          </p:nvPr>
        </p:nvSpPr>
        <p:spPr>
          <a:xfrm>
            <a:off x="256854" y="678095"/>
            <a:ext cx="11753636" cy="5848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Sets are unordered: </a:t>
            </a:r>
            <a:r>
              <a:rPr b="0" i="0" lang="en-US" sz="1800" u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Unordered means that the items in a set do not have a defined order.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0" i="0" lang="en-US" sz="1800" u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Set items can appear in a different order every time you use them and cannot be referred to by index or key.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Example:</a:t>
            </a:r>
            <a:endParaRPr b="1"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Consolas"/>
                <a:ea typeface="Consolas"/>
                <a:cs typeface="Consolas"/>
                <a:sym typeface="Consolas"/>
              </a:rPr>
              <a:t>	set1={1, 2, 3, 4, 5, 6, 7}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Consolas"/>
                <a:ea typeface="Consolas"/>
                <a:cs typeface="Consolas"/>
                <a:sym typeface="Consolas"/>
              </a:rPr>
              <a:t>	print(set1)    </a:t>
            </a:r>
            <a:br>
              <a:rPr b="1" lang="en-US" sz="1800">
                <a:latin typeface="Consolas"/>
                <a:ea typeface="Consolas"/>
                <a:cs typeface="Consolas"/>
                <a:sym typeface="Consolas"/>
              </a:rPr>
            </a:br>
            <a:r>
              <a:rPr b="1" lang="en-US" sz="1800">
                <a:latin typeface="Consolas"/>
                <a:ea typeface="Consolas"/>
                <a:cs typeface="Consolas"/>
                <a:sym typeface="Consolas"/>
              </a:rPr>
              <a:t>	Output: 	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Consolas"/>
                <a:ea typeface="Consolas"/>
                <a:cs typeface="Consolas"/>
                <a:sym typeface="Consolas"/>
              </a:rPr>
              <a:t>	{1, 2, 3, 4, 5, 6, 7}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</a:t>
            </a:r>
            <a:endParaRPr b="1" sz="20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b="1"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Sets do not supporting indexing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>
                <a:latin typeface="Consolas"/>
                <a:ea typeface="Consolas"/>
                <a:cs typeface="Consolas"/>
                <a:sym typeface="Consolas"/>
              </a:rPr>
              <a:t>myset = {'Apples', 'Bananas', 'Oranges’}			</a:t>
            </a: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&gt;&gt;&gt; </a:t>
            </a: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myset[0]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myset)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			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rPr b="1"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b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{'Bananas', 'Oranges', 'Apples'}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		</a:t>
            </a:r>
            <a:endParaRPr sz="18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8" name="Google Shape;678;p84"/>
          <p:cNvSpPr txBox="1"/>
          <p:nvPr/>
        </p:nvSpPr>
        <p:spPr>
          <a:xfrm>
            <a:off x="6294634" y="5572200"/>
            <a:ext cx="564051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Traceback (most recent call last):</a:t>
            </a:r>
            <a:br>
              <a:rPr lang="en-U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   File "&lt;pyshell#2&gt;", line 1, in &lt;module&gt;</a:t>
            </a:r>
            <a:br>
              <a:rPr lang="en-U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      myset[0]</a:t>
            </a:r>
            <a:br>
              <a:rPr lang="en-U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TypeError: 'set' object does not support indexing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85"/>
          <p:cNvSpPr txBox="1"/>
          <p:nvPr>
            <p:ph idx="1" type="body"/>
          </p:nvPr>
        </p:nvSpPr>
        <p:spPr>
          <a:xfrm>
            <a:off x="605118" y="806824"/>
            <a:ext cx="10932457" cy="571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Iteration over sets: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cannot access items in a set by referring to an index or a key.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But can loop through the set items using a for loop or ask if a specified value is present in a set, by using the in keyword.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highlight>
                  <a:srgbClr val="E7E9EB"/>
                </a:highlight>
              </a:rPr>
              <a:t>Example:</a:t>
            </a:r>
            <a:endParaRPr b="1" sz="24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	thisset = {"apple", "banana", "cherry"}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	for x in thisset: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 		 print(x)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</a:pPr>
            <a:r>
              <a:rPr b="1" lang="en-US" sz="2000">
                <a:solidFill>
                  <a:schemeClr val="accent6"/>
                </a:solidFill>
                <a:latin typeface="Constantia"/>
                <a:ea typeface="Constantia"/>
                <a:cs typeface="Constantia"/>
                <a:sym typeface="Constantia"/>
              </a:rPr>
              <a:t>Output: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</a:pPr>
            <a:r>
              <a:rPr b="1" lang="en-US" sz="2000">
                <a:solidFill>
                  <a:schemeClr val="accent6"/>
                </a:solidFill>
                <a:latin typeface="Constantia"/>
                <a:ea typeface="Constantia"/>
                <a:cs typeface="Constantia"/>
                <a:sym typeface="Constantia"/>
              </a:rPr>
              <a:t>	banana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</a:pPr>
            <a:r>
              <a:rPr b="1" lang="en-US" sz="2000">
                <a:solidFill>
                  <a:schemeClr val="accent6"/>
                </a:solidFill>
                <a:latin typeface="Constantia"/>
                <a:ea typeface="Constantia"/>
                <a:cs typeface="Constantia"/>
                <a:sym typeface="Constantia"/>
              </a:rPr>
              <a:t>	apple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</a:pPr>
            <a:r>
              <a:rPr b="1" lang="en-US" sz="2000">
                <a:solidFill>
                  <a:schemeClr val="accent6"/>
                </a:solidFill>
                <a:latin typeface="Constantia"/>
                <a:ea typeface="Constantia"/>
                <a:cs typeface="Constantia"/>
                <a:sym typeface="Constantia"/>
              </a:rPr>
              <a:t>	cherry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6"/>
          <p:cNvSpPr txBox="1"/>
          <p:nvPr>
            <p:ph idx="1" type="body"/>
          </p:nvPr>
        </p:nvSpPr>
        <p:spPr>
          <a:xfrm>
            <a:off x="629771" y="858862"/>
            <a:ext cx="10932457" cy="5323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Set operations: </a:t>
            </a:r>
            <a:r>
              <a:rPr lang="en-US" sz="24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like union, intersection, symmetric difference etc.</a:t>
            </a:r>
            <a:endParaRPr b="1" sz="2400">
              <a:solidFill>
                <a:srgbClr val="000000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odd = {1, 3, 5}</a:t>
            </a:r>
            <a:endParaRPr/>
          </a:p>
          <a:p>
            <a:pPr indent="0" lvl="0" marL="571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prime = {2, 3, 5}</a:t>
            </a:r>
            <a:endParaRPr sz="1800">
              <a:solidFill>
                <a:srgbClr val="00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membership </a:t>
            </a:r>
            <a:r>
              <a:rPr b="1" lang="en-US" sz="1800">
                <a:solidFill>
                  <a:srgbClr val="000000"/>
                </a:solidFill>
              </a:rPr>
              <a:t>∈</a:t>
            </a:r>
            <a:r>
              <a:rPr lang="en-US" sz="1800">
                <a:solidFill>
                  <a:srgbClr val="000000"/>
                </a:solidFill>
              </a:rPr>
              <a:t>		Python: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US" sz="1800">
                <a:solidFill>
                  <a:srgbClr val="000000"/>
                </a:solidFill>
              </a:rPr>
              <a:t>	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 in prime 	</a:t>
            </a:r>
            <a:r>
              <a:rPr lang="en-US" sz="1800">
                <a:solidFill>
                  <a:srgbClr val="000000"/>
                </a:solidFill>
              </a:rPr>
              <a:t>⇒ False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union </a:t>
            </a:r>
            <a:r>
              <a:rPr b="1" lang="en-US" sz="1800">
                <a:solidFill>
                  <a:srgbClr val="000000"/>
                </a:solidFill>
              </a:rPr>
              <a:t>∪</a:t>
            </a:r>
            <a:r>
              <a:rPr lang="en-US" sz="1800">
                <a:solidFill>
                  <a:srgbClr val="000000"/>
                </a:solidFill>
              </a:rPr>
              <a:t>		Python: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|	</a:t>
            </a:r>
            <a:r>
              <a:rPr lang="en-US" sz="1800">
                <a:solidFill>
                  <a:srgbClr val="000000"/>
                </a:solidFill>
              </a:rPr>
              <a:t>	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odd | prime 	</a:t>
            </a:r>
            <a:r>
              <a:rPr lang="en-US" sz="1800">
                <a:solidFill>
                  <a:srgbClr val="000000"/>
                </a:solidFill>
              </a:rPr>
              <a:t>⇒ {1, 2, 3, 5}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intersection  </a:t>
            </a:r>
            <a:r>
              <a:rPr b="1" lang="en-US" sz="1800">
                <a:solidFill>
                  <a:srgbClr val="000000"/>
                </a:solidFill>
              </a:rPr>
              <a:t>∩</a:t>
            </a:r>
            <a:r>
              <a:rPr lang="en-US" sz="1800">
                <a:solidFill>
                  <a:srgbClr val="000000"/>
                </a:solidFill>
              </a:rPr>
              <a:t>		Python: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US" sz="1800">
                <a:solidFill>
                  <a:srgbClr val="000000"/>
                </a:solidFill>
              </a:rPr>
              <a:t>		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odd &amp; prime 	</a:t>
            </a:r>
            <a:r>
              <a:rPr lang="en-US" sz="1800">
                <a:solidFill>
                  <a:srgbClr val="000000"/>
                </a:solidFill>
              </a:rPr>
              <a:t>⇒ {3, 5}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-US" sz="1800">
                <a:solidFill>
                  <a:srgbClr val="000000"/>
                </a:solidFill>
              </a:rPr>
              <a:t>difference </a:t>
            </a:r>
            <a:r>
              <a:rPr b="1" lang="en-US" sz="1800">
                <a:solidFill>
                  <a:srgbClr val="000000"/>
                </a:solidFill>
              </a:rPr>
              <a:t>\</a:t>
            </a:r>
            <a:r>
              <a:rPr lang="en-US" sz="1800">
                <a:solidFill>
                  <a:srgbClr val="000000"/>
                </a:solidFill>
              </a:rPr>
              <a:t> or </a:t>
            </a:r>
            <a:r>
              <a:rPr b="1" lang="en-US" sz="1800">
                <a:solidFill>
                  <a:srgbClr val="000000"/>
                </a:solidFill>
              </a:rPr>
              <a:t>-</a:t>
            </a:r>
            <a:r>
              <a:rPr lang="en-US" sz="1800">
                <a:solidFill>
                  <a:srgbClr val="000000"/>
                </a:solidFill>
              </a:rPr>
              <a:t>		Python: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-US" sz="1800">
                <a:solidFill>
                  <a:srgbClr val="000000"/>
                </a:solidFill>
              </a:rPr>
              <a:t>		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odd – prime 	</a:t>
            </a:r>
            <a:r>
              <a:rPr lang="en-US" sz="1800">
                <a:solidFill>
                  <a:srgbClr val="000000"/>
                </a:solidFill>
              </a:rPr>
              <a:t>⇒ {1}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------------------------------------------------------------------------------------</a:t>
            </a:r>
            <a:r>
              <a:rPr b="1" lang="en-US" sz="24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Example: 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set1 = {5, 6, 7, 8}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set2 = {1, 2, 3, 5, 6, 10}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intersection = set1 &amp; set2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union = set1 | set2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diff1 = set1-set2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diff2 = set2-set1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print(set1,set2,intersection,union,diff1,diff2,sep="\n")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9" name="Google Shape;689;p86"/>
          <p:cNvSpPr txBox="1"/>
          <p:nvPr/>
        </p:nvSpPr>
        <p:spPr>
          <a:xfrm>
            <a:off x="8753583" y="3791164"/>
            <a:ext cx="2291135" cy="203132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{8, 5, 6, 7}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{1, 2, 3, 5, 6, 10}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{5, 6}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{1, 2, 3, 5, 6, 7, 8, 10} {8, 7}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{10, 1, 2, 3}</a:t>
            </a:r>
            <a:endParaRPr b="1" sz="1800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7"/>
          <p:cNvSpPr txBox="1"/>
          <p:nvPr>
            <p:ph idx="1" type="body"/>
          </p:nvPr>
        </p:nvSpPr>
        <p:spPr>
          <a:xfrm>
            <a:off x="564776" y="739740"/>
            <a:ext cx="10932457" cy="5553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Modify a Set: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cannot access or change an element of set using indexing or slicing.</a:t>
            </a:r>
            <a:endParaRPr b="1"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b="1" lang="en-US" sz="2000">
                <a:solidFill>
                  <a:srgbClr val="FF0000"/>
                </a:solidFill>
              </a:rPr>
              <a:t>Add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>
                <a:solidFill>
                  <a:srgbClr val="000000"/>
                </a:solidFill>
              </a:rPr>
              <a:t>one element to a set: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myset.add(newelt)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 = myset | {newelt}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b="1" lang="en-US" sz="2000">
                <a:solidFill>
                  <a:srgbClr val="FF0000"/>
                </a:solidFill>
              </a:rPr>
              <a:t>Update </a:t>
            </a:r>
            <a:r>
              <a:rPr lang="en-US" sz="2000">
                <a:solidFill>
                  <a:srgbClr val="000000"/>
                </a:solidFill>
              </a:rPr>
              <a:t>multiple elements to the set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</a:rPr>
              <a:t>      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myset.update((elt1, elt2, elt3))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b="1" lang="en-US" sz="2000">
                <a:solidFill>
                  <a:srgbClr val="FF0000"/>
                </a:solidFill>
              </a:rPr>
              <a:t>Remove</a:t>
            </a:r>
            <a:r>
              <a:rPr lang="en-US" sz="2000">
                <a:solidFill>
                  <a:srgbClr val="FF0000"/>
                </a:solidFill>
              </a:rPr>
              <a:t> </a:t>
            </a:r>
            <a:r>
              <a:rPr lang="en-US" sz="2000">
                <a:solidFill>
                  <a:srgbClr val="000000"/>
                </a:solidFill>
              </a:rPr>
              <a:t>one element from a set: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myset.remove(elt)  </a:t>
            </a:r>
            <a:r>
              <a:rPr lang="en-US" sz="1800">
                <a:solidFill>
                  <a:srgbClr val="000000"/>
                </a:solidFill>
              </a:rPr>
              <a:t># elt must be in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 </a:t>
            </a:r>
            <a:r>
              <a:rPr lang="en-US" sz="1800">
                <a:solidFill>
                  <a:srgbClr val="000000"/>
                </a:solidFill>
              </a:rPr>
              <a:t>or raises error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myset.discard(elt) </a:t>
            </a:r>
            <a:r>
              <a:rPr lang="en-US" sz="1800">
                <a:solidFill>
                  <a:srgbClr val="000000"/>
                </a:solidFill>
              </a:rPr>
              <a:t># never errors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 = myset - {elt}</a:t>
            </a:r>
            <a:endParaRPr b="1"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</a:rPr>
              <a:t>What would this do?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 = myset – elt            .clear() will remove all the elements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 sz="2000">
                <a:solidFill>
                  <a:srgbClr val="000000"/>
                </a:solidFill>
              </a:rPr>
              <a:t>Remove and return an arbitrary element from a set: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myset.pop()             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Note</a:t>
            </a:r>
            <a:r>
              <a:rPr lang="en-US" sz="1800"/>
              <a:t>: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-US" sz="1800"/>
              <a:t>,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remove</a:t>
            </a:r>
            <a:r>
              <a:rPr lang="en-US" sz="1800"/>
              <a:t> and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discard</a:t>
            </a:r>
            <a:r>
              <a:rPr lang="en-US" sz="1800"/>
              <a:t> all return </a:t>
            </a:r>
            <a:r>
              <a:rPr b="1" lang="en-US" sz="2000"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88"/>
          <p:cNvSpPr txBox="1"/>
          <p:nvPr>
            <p:ph idx="1" type="body"/>
          </p:nvPr>
        </p:nvSpPr>
        <p:spPr>
          <a:xfrm>
            <a:off x="594175" y="818251"/>
            <a:ext cx="3559200" cy="3651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Exercise: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set1 = {5,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6,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7,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set2 = set1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set3 = set(set1)</a:t>
            </a:r>
            <a:endParaRPr b="1"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set1.update((9,10))</a:t>
            </a: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print(set1)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print(set2)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print(set3)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print(id(set1))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print(id(set2))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print(id(set3))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0" name="Google Shape;700;p88"/>
          <p:cNvSpPr txBox="1"/>
          <p:nvPr/>
        </p:nvSpPr>
        <p:spPr>
          <a:xfrm>
            <a:off x="8380287" y="820931"/>
            <a:ext cx="3217547" cy="269612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set1.remove(8)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set1.discard(7)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set2 = set2-{6, 10, 8}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set2.pop()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print(set1)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print(set2)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set2.clear()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print(set2)</a:t>
            </a:r>
            <a:endParaRPr/>
          </a:p>
        </p:txBody>
      </p:sp>
      <p:sp>
        <p:nvSpPr>
          <p:cNvPr id="701" name="Google Shape;701;p88"/>
          <p:cNvSpPr txBox="1"/>
          <p:nvPr/>
        </p:nvSpPr>
        <p:spPr>
          <a:xfrm>
            <a:off x="4826709" y="835098"/>
            <a:ext cx="2804100" cy="19857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set1.add(11)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set2 = set2 | {35}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print(set1)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print(set2)</a:t>
            </a:r>
            <a:endParaRPr b="1" sz="18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print(id(set1))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print(id(set2))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02" name="Google Shape;702;p88"/>
          <p:cNvSpPr txBox="1"/>
          <p:nvPr/>
        </p:nvSpPr>
        <p:spPr>
          <a:xfrm>
            <a:off x="594166" y="4681785"/>
            <a:ext cx="3061800" cy="2031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{5, 6, 7, 8, 9, 10}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{5, 6, 7, 8, 9, 10}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{8, 5, 6, 7}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130450725009696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130450725009696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130450725010368</a:t>
            </a:r>
            <a:endParaRPr b="1" sz="18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88"/>
          <p:cNvSpPr txBox="1"/>
          <p:nvPr/>
        </p:nvSpPr>
        <p:spPr>
          <a:xfrm>
            <a:off x="4822876" y="4469259"/>
            <a:ext cx="2804100" cy="1477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{5, 6, 7, 8, 9, 10, 11}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35, </a:t>
            </a: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5, 6, 7, 8, 9, 10, 11}</a:t>
            </a:r>
            <a:endParaRPr b="1"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130450725009696</a:t>
            </a:r>
            <a:endParaRPr b="1"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130450724999840</a:t>
            </a:r>
            <a:endParaRPr b="1"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88"/>
          <p:cNvSpPr txBox="1"/>
          <p:nvPr/>
        </p:nvSpPr>
        <p:spPr>
          <a:xfrm>
            <a:off x="8380287" y="4549741"/>
            <a:ext cx="3061800" cy="1200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{5, 6, 9, 10, 11}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{5,7, 9, 11}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set()</a:t>
            </a:r>
            <a:endParaRPr b="1"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5" name="Google Shape;705;p88"/>
          <p:cNvCxnSpPr/>
          <p:nvPr/>
        </p:nvCxnSpPr>
        <p:spPr>
          <a:xfrm>
            <a:off x="4397339" y="0"/>
            <a:ext cx="8130" cy="685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6" name="Google Shape;706;p88"/>
          <p:cNvCxnSpPr/>
          <p:nvPr/>
        </p:nvCxnSpPr>
        <p:spPr>
          <a:xfrm>
            <a:off x="7989456" y="0"/>
            <a:ext cx="8130" cy="685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89"/>
          <p:cNvSpPr/>
          <p:nvPr/>
        </p:nvSpPr>
        <p:spPr>
          <a:xfrm>
            <a:off x="573741" y="533501"/>
            <a:ext cx="11044518" cy="6128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Methods on Sets: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isdisjoint() </a:t>
            </a: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– This method returns True if none of the items are present in both sets, otherwise it returns False.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		Syntax: </a:t>
            </a:r>
            <a:r>
              <a:rPr b="0" i="1" lang="en-US" sz="24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0" i="0" lang="en-US" sz="24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.isdisjoint(</a:t>
            </a:r>
            <a:r>
              <a:rPr b="0" i="1" lang="en-US" sz="24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0" i="0" lang="en-US" sz="24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issubset()</a:t>
            </a: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– This method returns True if all elements of a set A are present in another set B which is passed as an argument, and returns False if all elements are not. You can also use the &lt;= operator.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		Syntax: </a:t>
            </a:r>
            <a:r>
              <a:rPr b="0" i="1" lang="en-US" sz="24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0" i="0" lang="en-US" sz="24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.issubset(</a:t>
            </a:r>
            <a:r>
              <a:rPr b="0" i="1" lang="en-US" sz="24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set1</a:t>
            </a:r>
            <a:r>
              <a:rPr b="0" i="0" lang="en-US" sz="24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OR </a:t>
            </a:r>
            <a:r>
              <a:rPr b="0" i="1" lang="en-US" sz="24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0" i="0" lang="en-US" sz="24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 &lt;= </a:t>
            </a:r>
            <a:r>
              <a:rPr b="0" i="1" lang="en-US" sz="24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set1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issuperset()</a:t>
            </a: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– This method returns True if all elements of a set B are in set A. Then Set A is the superset of set B. You can also use the &gt;= operator.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Syntax: </a:t>
            </a:r>
            <a:r>
              <a:rPr b="0" i="1" lang="en-US" sz="24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0" i="0" lang="en-US" sz="24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.issuperset(</a:t>
            </a:r>
            <a:r>
              <a:rPr b="0" i="1" lang="en-US" sz="24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0" i="0" lang="en-US" sz="24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b="0" i="0" lang="en-US" sz="24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tantia"/>
                <a:ea typeface="Constantia"/>
                <a:cs typeface="Constantia"/>
                <a:sym typeface="Constantia"/>
              </a:rPr>
              <a:t> OR </a:t>
            </a:r>
            <a:r>
              <a:rPr b="0" i="1" lang="en-US" sz="24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0" i="0" lang="en-US" sz="24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 &gt;= </a:t>
            </a:r>
            <a:r>
              <a:rPr b="0" i="1" lang="en-US" sz="24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set1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12" name="Google Shape;712;p89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90"/>
          <p:cNvSpPr txBox="1"/>
          <p:nvPr/>
        </p:nvSpPr>
        <p:spPr>
          <a:xfrm>
            <a:off x="760287" y="595900"/>
            <a:ext cx="4452950" cy="4467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set1 = {"a", "b", "c"}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set2 = {"f", "e", "d", "c", "b", "a"}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disjoint = set1.isdisjoint(set2)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subset=set1.issubset(set2)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supset=set1.issuperset(set2)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print(disjoint)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print(subset)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print(supset)</a:t>
            </a:r>
            <a:endParaRPr/>
          </a:p>
        </p:txBody>
      </p:sp>
      <p:sp>
        <p:nvSpPr>
          <p:cNvPr id="718" name="Google Shape;718;p90"/>
          <p:cNvSpPr txBox="1"/>
          <p:nvPr/>
        </p:nvSpPr>
        <p:spPr>
          <a:xfrm>
            <a:off x="6301483" y="708916"/>
            <a:ext cx="4452950" cy="33590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set1 = {"a", "b", "c"}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set2 = {"f", "e", "d", "c", "b", "a"}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s1=set1 &lt;= set2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s2=set1 &gt;= set2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print(s1)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print(s2)</a:t>
            </a:r>
            <a:endParaRPr/>
          </a:p>
        </p:txBody>
      </p:sp>
      <p:sp>
        <p:nvSpPr>
          <p:cNvPr id="719" name="Google Shape;719;p90"/>
          <p:cNvSpPr txBox="1"/>
          <p:nvPr/>
        </p:nvSpPr>
        <p:spPr>
          <a:xfrm>
            <a:off x="2961548" y="4640926"/>
            <a:ext cx="1353256" cy="181588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False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True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90"/>
          <p:cNvSpPr txBox="1"/>
          <p:nvPr/>
        </p:nvSpPr>
        <p:spPr>
          <a:xfrm>
            <a:off x="8614018" y="4370459"/>
            <a:ext cx="1435009" cy="138499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True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endParaRPr b="1" sz="2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1" name="Google Shape;721;p90"/>
          <p:cNvCxnSpPr/>
          <p:nvPr/>
        </p:nvCxnSpPr>
        <p:spPr>
          <a:xfrm>
            <a:off x="5745165" y="0"/>
            <a:ext cx="8130" cy="6858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91"/>
          <p:cNvSpPr/>
          <p:nvPr/>
        </p:nvSpPr>
        <p:spPr>
          <a:xfrm>
            <a:off x="546846" y="929555"/>
            <a:ext cx="11044518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Difference between a Set and a list: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27" name="Google Shape;727;p91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8" name="Google Shape;728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846" y="1672478"/>
            <a:ext cx="11228478" cy="4607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9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6000"/>
              <a:buFont typeface="Times New Roman"/>
              <a:buNone/>
            </a:pPr>
            <a:r>
              <a:rPr lang="en-US">
                <a:solidFill>
                  <a:srgbClr val="548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DICTIONARY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93"/>
          <p:cNvSpPr/>
          <p:nvPr/>
        </p:nvSpPr>
        <p:spPr>
          <a:xfrm>
            <a:off x="474929" y="822887"/>
            <a:ext cx="11044518" cy="5575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Dictionary: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 dictionary is a collection which is unordered, changeable and do not allow duplicates.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Dictionaries are collection of Key-Value pair. Dictionaries are used to store data values in key:value pairs. Key and values are separated by a colon. Pairs of entries are separated by commas. 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Keys can be any immutable type and unique within the dictionary. Values can be any type. Dictionaries are written with curly brackets.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Python’s dictionaries are also known as </a:t>
            </a: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hash tables </a:t>
            </a: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and </a:t>
            </a: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associative arrays</a:t>
            </a:r>
            <a:endParaRPr/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Dictionary items can be referred to by using the key name.</a:t>
            </a:r>
            <a:endParaRPr/>
          </a:p>
        </p:txBody>
      </p:sp>
      <p:sp>
        <p:nvSpPr>
          <p:cNvPr id="739" name="Google Shape;739;p93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4"/>
          <p:cNvSpPr txBox="1"/>
          <p:nvPr>
            <p:ph idx="1" type="body"/>
          </p:nvPr>
        </p:nvSpPr>
        <p:spPr>
          <a:xfrm>
            <a:off x="838199" y="892470"/>
            <a:ext cx="10899531" cy="4541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>
                <a:latin typeface="Constantia"/>
                <a:ea typeface="Constantia"/>
                <a:cs typeface="Constantia"/>
                <a:sym typeface="Constantia"/>
              </a:rPr>
              <a:t>Creating &amp; accessing dictionaries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>
                <a:latin typeface="Constantia"/>
                <a:ea typeface="Constantia"/>
                <a:cs typeface="Constantia"/>
                <a:sym typeface="Constantia"/>
              </a:rPr>
              <a:t>Example 1: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d={"user":"admin","password":1234}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print(d['user'])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b="1" lang="en-US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print(d['password’])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t/>
            </a:r>
            <a:endParaRPr b="1" sz="2400"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b="1" lang="en-US" sz="2400">
                <a:latin typeface="Constantia"/>
                <a:ea typeface="Constantia"/>
                <a:cs typeface="Constantia"/>
                <a:sym typeface="Constantia"/>
              </a:rPr>
              <a:t>Example 2:</a:t>
            </a:r>
            <a:endParaRPr b="1" sz="24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thisdict = dict(name = "John", age = 36, marks=[10,20,30])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None/>
            </a:pPr>
            <a:r>
              <a:rPr b="1" lang="en-US" sz="2400">
                <a:latin typeface="Consolas"/>
                <a:ea typeface="Consolas"/>
                <a:cs typeface="Consolas"/>
                <a:sym typeface="Consolas"/>
              </a:rPr>
              <a:t>print(thisdict)</a:t>
            </a:r>
            <a:endParaRPr/>
          </a:p>
        </p:txBody>
      </p:sp>
      <p:sp>
        <p:nvSpPr>
          <p:cNvPr id="745" name="Google Shape;745;p94"/>
          <p:cNvSpPr txBox="1"/>
          <p:nvPr/>
        </p:nvSpPr>
        <p:spPr>
          <a:xfrm>
            <a:off x="6192715" y="2389740"/>
            <a:ext cx="5262979" cy="15081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{'user': 'admin', 'password': 1234}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admin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Consolas"/>
              <a:buNone/>
            </a:pPr>
            <a:r>
              <a:rPr b="1" lang="en-US" sz="20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1234</a:t>
            </a:r>
            <a:endParaRPr/>
          </a:p>
        </p:txBody>
      </p:sp>
      <p:sp>
        <p:nvSpPr>
          <p:cNvPr id="746" name="Google Shape;746;p94"/>
          <p:cNvSpPr txBox="1"/>
          <p:nvPr/>
        </p:nvSpPr>
        <p:spPr>
          <a:xfrm>
            <a:off x="2153641" y="5550031"/>
            <a:ext cx="5876289" cy="83099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{'name': 'John', 'age': 36, 'marks': [10, 20, 30]}</a:t>
            </a:r>
            <a:endParaRPr sz="2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95"/>
          <p:cNvSpPr/>
          <p:nvPr/>
        </p:nvSpPr>
        <p:spPr>
          <a:xfrm>
            <a:off x="761999" y="987235"/>
            <a:ext cx="1104451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Changing item value in Dictionary:</a:t>
            </a:r>
            <a:endParaRPr/>
          </a:p>
          <a:p>
            <a:pPr indent="0" lvl="2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= {'user':'admin', 'pswd':1234}</a:t>
            </a:r>
            <a:endParaRPr/>
          </a:p>
          <a:p>
            <a:pPr indent="0" lvl="2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d['user'] = 'student'</a:t>
            </a:r>
            <a:endParaRPr/>
          </a:p>
          <a:p>
            <a:pPr indent="0" lvl="2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print(d)</a:t>
            </a:r>
            <a:endParaRPr/>
          </a:p>
          <a:p>
            <a:pPr indent="0" lvl="2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2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{'user': 'student', 'pswd': 1234}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52" name="Google Shape;752;p95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6"/>
          <p:cNvSpPr txBox="1"/>
          <p:nvPr>
            <p:ph idx="1" type="body"/>
          </p:nvPr>
        </p:nvSpPr>
        <p:spPr>
          <a:xfrm>
            <a:off x="838200" y="955497"/>
            <a:ext cx="10515600" cy="5221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lang="en-US">
                <a:latin typeface="Quattrocento Sans"/>
                <a:ea typeface="Quattrocento Sans"/>
                <a:cs typeface="Quattrocento Sans"/>
                <a:sym typeface="Quattrocento Sans"/>
              </a:rPr>
              <a:t>Adding Items - </a:t>
            </a:r>
            <a:r>
              <a:rPr lang="en-US"/>
              <a:t>Adding an item to the dictionary is done by using a new index key and assigning a value to it: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</a:t>
            </a:r>
            <a:endParaRPr/>
          </a:p>
          <a:p>
            <a:pPr indent="0" lvl="0" marL="3571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thisdict = {"name":"John", "age":36} </a:t>
            </a:r>
            <a:endParaRPr/>
          </a:p>
          <a:p>
            <a:pPr indent="0" lvl="0" marL="3571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thisdict["marks"]=100</a:t>
            </a:r>
            <a:endParaRPr/>
          </a:p>
          <a:p>
            <a:pPr indent="0" lvl="0" marL="3571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print(thisdict)</a:t>
            </a:r>
            <a:br>
              <a:rPr b="1" lang="en-US"/>
            </a:b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58" name="Google Shape;758;p96"/>
          <p:cNvSpPr txBox="1"/>
          <p:nvPr/>
        </p:nvSpPr>
        <p:spPr>
          <a:xfrm>
            <a:off x="2558265" y="4808305"/>
            <a:ext cx="5061514" cy="83099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{'name': 'John', 'age': 36, 'marks': 100}</a:t>
            </a:r>
            <a:endParaRPr b="1" sz="2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97"/>
          <p:cNvSpPr txBox="1"/>
          <p:nvPr>
            <p:ph idx="1" type="body"/>
          </p:nvPr>
        </p:nvSpPr>
        <p:spPr>
          <a:xfrm>
            <a:off x="838200" y="914400"/>
            <a:ext cx="10515600" cy="526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Constantia"/>
                <a:ea typeface="Constantia"/>
                <a:cs typeface="Constantia"/>
                <a:sym typeface="Constantia"/>
              </a:rPr>
              <a:t>Update Dictionary:</a:t>
            </a:r>
            <a:endParaRPr sz="2400">
              <a:latin typeface="Constantia"/>
              <a:ea typeface="Constantia"/>
              <a:cs typeface="Constantia"/>
              <a:sym typeface="Constantia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 update() method will update the dictionary with the items from a given argument. If the item does not exist, the item will be added.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argument must be a dictionary, or an iterable object with key:value pairs.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</a:t>
            </a:r>
            <a:endParaRPr/>
          </a:p>
          <a:p>
            <a:pPr indent="0" lvl="0" marL="541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thisdict = {"user": "admin", "password": 1234}</a:t>
            </a:r>
            <a:endParaRPr/>
          </a:p>
          <a:p>
            <a:pPr indent="0" lvl="0" marL="541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thisdict.update({"dept": "cse"})</a:t>
            </a:r>
            <a:endParaRPr/>
          </a:p>
          <a:p>
            <a:pPr indent="0" lvl="0" marL="5413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print(thisdict)</a:t>
            </a:r>
            <a:endParaRPr/>
          </a:p>
        </p:txBody>
      </p:sp>
      <p:sp>
        <p:nvSpPr>
          <p:cNvPr id="764" name="Google Shape;764;p97"/>
          <p:cNvSpPr txBox="1"/>
          <p:nvPr/>
        </p:nvSpPr>
        <p:spPr>
          <a:xfrm>
            <a:off x="4561726" y="5112603"/>
            <a:ext cx="6084294" cy="83099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{'user': 'admin', 'password': 1234, 'dept': 'cse'}</a:t>
            </a:r>
            <a:endParaRPr b="1" sz="2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98"/>
          <p:cNvSpPr/>
          <p:nvPr/>
        </p:nvSpPr>
        <p:spPr>
          <a:xfrm>
            <a:off x="649739" y="631295"/>
            <a:ext cx="11044518" cy="6278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Creating Dictionary fromkeys() method: The fromkeys() method returns a dictionary with the specified keys and the specified value. If the value parameter is not specified, it defaults to None.</a:t>
            </a:r>
            <a:endParaRPr/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 dict.fromkeys(seq, value=None)</a:t>
            </a:r>
            <a:endParaRPr/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1: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2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('key1', 'key2', 'key3')</a:t>
            </a:r>
            <a:endParaRPr/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= 0</a:t>
            </a:r>
            <a:endParaRPr/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thisdict = dict.fromkeys(x, y)</a:t>
            </a:r>
            <a:endParaRPr/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print(thisdict)</a:t>
            </a:r>
            <a:endParaRPr/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2:</a:t>
            </a:r>
            <a:endParaRPr/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('key1', 'key2', 'key3')</a:t>
            </a:r>
            <a:endParaRPr/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thisdict = dict.fromkeys(x)</a:t>
            </a:r>
            <a:endParaRPr/>
          </a:p>
          <a:p>
            <a:pPr indent="0" lvl="2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print(thisdict)</a:t>
            </a:r>
            <a:endParaRPr/>
          </a:p>
        </p:txBody>
      </p:sp>
      <p:sp>
        <p:nvSpPr>
          <p:cNvPr id="770" name="Google Shape;770;p98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98"/>
          <p:cNvSpPr txBox="1"/>
          <p:nvPr/>
        </p:nvSpPr>
        <p:spPr>
          <a:xfrm>
            <a:off x="5238042" y="3579755"/>
            <a:ext cx="2929456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{'key1': 0, 'key2': 0, 'key3': 0}</a:t>
            </a:r>
            <a:endParaRPr b="1"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98"/>
          <p:cNvSpPr txBox="1"/>
          <p:nvPr/>
        </p:nvSpPr>
        <p:spPr>
          <a:xfrm>
            <a:off x="5166189" y="5580374"/>
            <a:ext cx="4122090" cy="6463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{'key1': None, 'key2': None, 'key3': None}</a:t>
            </a:r>
            <a:endParaRPr b="1"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99"/>
          <p:cNvSpPr/>
          <p:nvPr/>
        </p:nvSpPr>
        <p:spPr>
          <a:xfrm>
            <a:off x="573741" y="756899"/>
            <a:ext cx="11044518" cy="58785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Removing item from the Dictionary: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 del keyword removes the item with the specified key name.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 clear() method empties the dictionary.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 del keyword can also delete the dictionary completely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= {'user':'admin', 'p':1234, 'i':34}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 d['user'] 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d.clear()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print(d)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del d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#print(d)</a:t>
            </a:r>
            <a:endParaRPr b="0" i="0" sz="2400" u="none" cap="none" strike="noStrike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78" name="Google Shape;778;p99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99"/>
          <p:cNvSpPr txBox="1"/>
          <p:nvPr/>
        </p:nvSpPr>
        <p:spPr>
          <a:xfrm>
            <a:off x="6743525" y="4898893"/>
            <a:ext cx="2383986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{'p': 1234, 'i': 34}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{}</a:t>
            </a:r>
            <a:endParaRPr b="1" sz="24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00"/>
          <p:cNvSpPr/>
          <p:nvPr/>
        </p:nvSpPr>
        <p:spPr>
          <a:xfrm>
            <a:off x="470302" y="539862"/>
            <a:ext cx="11044518" cy="6682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Removing item from the Dictionary: </a:t>
            </a: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The pop() method removes the item with the specified key name.</a:t>
            </a: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key is not found, a KeyError is raised.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 dict.pop(key, default=None)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stud={'name':'ram', 'id':1234, 'marks':100}</a:t>
            </a:r>
            <a:endParaRPr/>
          </a:p>
          <a:p>
            <a:pPr indent="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poppeditem=stud.pop('marks')</a:t>
            </a:r>
            <a:endParaRPr/>
          </a:p>
          <a:p>
            <a:pPr indent="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print('Popped value',poppeditem)</a:t>
            </a:r>
            <a:endParaRPr/>
          </a:p>
          <a:p>
            <a:pPr indent="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print(stud)</a:t>
            </a:r>
            <a:endParaRPr/>
          </a:p>
          <a:p>
            <a:pPr indent="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x=stud.pop('english','not found')</a:t>
            </a:r>
            <a:endParaRPr/>
          </a:p>
          <a:p>
            <a:pPr indent="0" lvl="1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print(x)</a:t>
            </a:r>
            <a:endParaRPr/>
          </a:p>
          <a:p>
            <a:pPr indent="0" lvl="1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/>
          </a:p>
        </p:txBody>
      </p:sp>
      <p:sp>
        <p:nvSpPr>
          <p:cNvPr id="785" name="Google Shape;785;p100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86" name="Google Shape;786;p100"/>
          <p:cNvGraphicFramePr/>
          <p:nvPr/>
        </p:nvGraphicFramePr>
        <p:xfrm>
          <a:off x="838200" y="22238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{EAC7BC0C-FBEC-469B-B0C9-CF68428DB30A}</a:tableStyleId>
              </a:tblPr>
              <a:tblGrid>
                <a:gridCol w="1395050"/>
                <a:gridCol w="9120550"/>
              </a:tblGrid>
              <a:tr h="39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/>
                        <a:t>keyname</a:t>
                      </a:r>
                      <a:endParaRPr sz="1800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Required. The keyname of the item you want to remove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9EB"/>
                    </a:solidFill>
                  </a:tcPr>
                </a:tc>
              </a:tr>
              <a:tr h="656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/>
                        <a:t>defaultvalue</a:t>
                      </a:r>
                      <a:endParaRPr sz="1800"/>
                    </a:p>
                  </a:txBody>
                  <a:tcPr marT="75500" marB="75500" marR="75500" marL="1510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Optional. A value to return if the specified key do not exist. If this parameter is not specified, and  no item with the specified key is found, an error is raised</a:t>
                      </a:r>
                      <a:endParaRPr/>
                    </a:p>
                  </a:txBody>
                  <a:tcPr marT="75500" marB="75500" marR="75500" marL="75500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7" name="Google Shape;787;p100"/>
          <p:cNvSpPr txBox="1"/>
          <p:nvPr/>
        </p:nvSpPr>
        <p:spPr>
          <a:xfrm>
            <a:off x="8109946" y="4352192"/>
            <a:ext cx="3353931" cy="15696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Popped value 100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{'name': 'ram', 'id': 1234}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not found</a:t>
            </a:r>
            <a:endParaRPr sz="24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01"/>
          <p:cNvSpPr/>
          <p:nvPr/>
        </p:nvSpPr>
        <p:spPr>
          <a:xfrm>
            <a:off x="452716" y="812423"/>
            <a:ext cx="11044518" cy="52322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Removing item from the Dictionary: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dict.popitem():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The popitem() method removes the item that was last inserted into the dictionary. In versions before 3.7, the popitem() method removes a random item from dictionary. If the dictionary is empty, a KeyError is raised.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 </a:t>
            </a:r>
            <a:r>
              <a:rPr b="1" i="1" lang="en-US" sz="2000" u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dictionary</a:t>
            </a:r>
            <a:r>
              <a:rPr b="1" i="0" lang="en-US" sz="2000" u="none" strike="noStrike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.popitem()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Example: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stud={'name':'ram', 'id':1234, 'marks':100}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poppeditem=stud.popitem()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print('Popped value',poppeditem)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print(stud)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93" name="Google Shape;793;p101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01"/>
          <p:cNvSpPr txBox="1"/>
          <p:nvPr/>
        </p:nvSpPr>
        <p:spPr>
          <a:xfrm>
            <a:off x="7327892" y="4422559"/>
            <a:ext cx="4318811" cy="120032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Output: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	 Popped value ('marks', 100)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	 {'name': 'ram', 'id': 1234}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02"/>
          <p:cNvSpPr/>
          <p:nvPr/>
        </p:nvSpPr>
        <p:spPr>
          <a:xfrm>
            <a:off x="573741" y="496258"/>
            <a:ext cx="11044518" cy="6043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Useful Accessor’s in Dictionary:</a:t>
            </a:r>
            <a:endParaRPr sz="2400">
              <a:solidFill>
                <a:srgbClr val="66003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900"/>
              <a:buFont typeface="Noto Sans Symbols"/>
              <a:buNone/>
            </a:pPr>
            <a:r>
              <a:rPr b="1" i="0" lang="en-US" sz="1900" u="none" cap="none" strike="noStrik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d.keys() - </a:t>
            </a:r>
            <a:r>
              <a:rPr b="1" i="0" lang="en-US" sz="2000" u="none" cap="none" strike="noStrike">
                <a:solidFill>
                  <a:srgbClr val="24242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Returns a view object that displays a list of all the keys in the dictionary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rgbClr val="2424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b="0" i="0" lang="en-US" sz="19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my_dict = {'a': 1, 'b': 2, 'c': 3}</a:t>
            </a:r>
            <a:endParaRPr/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b="0" i="0" lang="en-US" sz="19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k = my_dict.keys()</a:t>
            </a:r>
            <a:endParaRPr/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b="0" i="0" lang="en-US" sz="19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print(k)</a:t>
            </a:r>
            <a:endParaRPr/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None/>
            </a:pPr>
            <a:r>
              <a:t/>
            </a:r>
            <a:endParaRPr b="0" i="0" sz="1900" u="none" cap="none" strike="noStrike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d.values() - Returns a view object that displays a list of all the values in the dictionary </a:t>
            </a:r>
            <a:endParaRPr/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FF33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b="0" i="0" lang="en-US" sz="19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my_dict = {'a': 1, 'b': 2, 'c': 3}</a:t>
            </a:r>
            <a:endParaRPr/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b="0" i="0" lang="en-US" sz="19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val = my_dict.values()</a:t>
            </a:r>
            <a:endParaRPr/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b="0" i="0" lang="en-US" sz="19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print(val)</a:t>
            </a:r>
            <a:endParaRPr/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oto Sans Symbols"/>
              <a:buNone/>
            </a:pPr>
            <a:r>
              <a:t/>
            </a:r>
            <a:endParaRPr b="0" i="0" sz="1900" u="none" cap="none" strike="noStrike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660033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d.items() - Returns a view object that displays a list of key-value pairs (tuples) in the dictionary</a:t>
            </a:r>
            <a:endParaRPr/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900" u="none" cap="none" strike="noStrike">
              <a:solidFill>
                <a:srgbClr val="FF33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b="0" i="0" lang="en-US" sz="19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my_dict = {'a': 1, 'b': 2, 'c': 3}</a:t>
            </a:r>
            <a:endParaRPr/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b="0" i="0" lang="en-US" sz="19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i = my_dict.items()</a:t>
            </a:r>
            <a:endParaRPr/>
          </a:p>
          <a:p>
            <a:pPr indent="0" lvl="1" marL="523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None/>
            </a:pPr>
            <a:r>
              <a:rPr b="0" i="0" lang="en-US" sz="19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print(i)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00" name="Google Shape;800;p102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02"/>
          <p:cNvSpPr txBox="1"/>
          <p:nvPr/>
        </p:nvSpPr>
        <p:spPr>
          <a:xfrm>
            <a:off x="6268915" y="1761933"/>
            <a:ext cx="4106008" cy="5909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dict_keys(['a', 'b', 'c'])</a:t>
            </a:r>
            <a:endParaRPr/>
          </a:p>
        </p:txBody>
      </p:sp>
      <p:sp>
        <p:nvSpPr>
          <p:cNvPr id="802" name="Google Shape;802;p102"/>
          <p:cNvSpPr txBox="1"/>
          <p:nvPr/>
        </p:nvSpPr>
        <p:spPr>
          <a:xfrm>
            <a:off x="6268915" y="3517854"/>
            <a:ext cx="3432350" cy="5909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dict_values([1, 2, 3])</a:t>
            </a:r>
            <a:endParaRPr/>
          </a:p>
        </p:txBody>
      </p:sp>
      <p:sp>
        <p:nvSpPr>
          <p:cNvPr id="803" name="Google Shape;803;p102"/>
          <p:cNvSpPr txBox="1"/>
          <p:nvPr/>
        </p:nvSpPr>
        <p:spPr>
          <a:xfrm>
            <a:off x="5653164" y="5418574"/>
            <a:ext cx="5965095" cy="59093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Output: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dict_items([('a', 1), ('b', 2), ('c', 3)])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3"/>
          <p:cNvSpPr/>
          <p:nvPr/>
        </p:nvSpPr>
        <p:spPr>
          <a:xfrm>
            <a:off x="546846" y="526143"/>
            <a:ext cx="11044518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Difference between a list and a Dictionary: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09" name="Google Shape;809;p103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0" name="Google Shape;810;p103"/>
          <p:cNvGraphicFramePr/>
          <p:nvPr/>
        </p:nvGraphicFramePr>
        <p:xfrm>
          <a:off x="92365" y="10827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{5DBC014E-0952-427E-8424-E9D68D74DED1}</a:tableStyleId>
              </a:tblPr>
              <a:tblGrid>
                <a:gridCol w="2233975"/>
                <a:gridCol w="4061000"/>
                <a:gridCol w="56612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Parameter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List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Dictionary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Definition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 ordered collection of items.</a:t>
                      </a:r>
                      <a:endParaRPr/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 unordered collection of data in a key: value pair form.</a:t>
                      </a:r>
                      <a:endParaRPr/>
                    </a:p>
                  </a:txBody>
                  <a:tcPr marT="19050" marB="57150" marR="76200" marL="7620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Syntax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Uses square brackets [].</a:t>
                      </a:r>
                      <a:endParaRPr/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Uses curly braces {}.</a:t>
                      </a:r>
                      <a:endParaRPr/>
                    </a:p>
                  </a:txBody>
                  <a:tcPr marT="19050" marB="57150" marR="76200" marL="7620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Ordering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Ordered: Items have a defined order, which will not change.</a:t>
                      </a:r>
                      <a:endParaRPr/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Unordered: Items do not have a defined order.</a:t>
                      </a:r>
                      <a:endParaRPr/>
                    </a:p>
                  </a:txBody>
                  <a:tcPr marT="19050" marB="57150" marR="76200" marL="7620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Indexing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Accessed by index, starting from 0.</a:t>
                      </a:r>
                      <a:endParaRPr/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Values are accessed using keys.</a:t>
                      </a:r>
                      <a:endParaRPr/>
                    </a:p>
                  </a:txBody>
                  <a:tcPr marT="19050" marB="57150" marR="76200" marL="7620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Mutability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Mutable: Items can be modified after creation.</a:t>
                      </a:r>
                      <a:endParaRPr/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Mutable: Values can be updated, and key: value pairs can be added or removed.</a:t>
                      </a:r>
                      <a:endParaRPr/>
                    </a:p>
                  </a:txBody>
                  <a:tcPr marT="19050" marB="57150" marR="76200" marL="7620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Uniqueness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Allows duplicate items.</a:t>
                      </a:r>
                      <a:endParaRPr/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Does not allow duplicate keys. However, values can be duplicated.</a:t>
                      </a:r>
                      <a:endParaRPr/>
                    </a:p>
                  </a:txBody>
                  <a:tcPr marT="19050" marB="57150" marR="76200" marL="7620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Types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It can store any data type.</a:t>
                      </a:r>
                      <a:endParaRPr/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Keys can be of any immutable data type (e.g., strings, numbers, tuples). Values can be of any type.</a:t>
                      </a:r>
                      <a:endParaRPr/>
                    </a:p>
                  </a:txBody>
                  <a:tcPr marT="19050" marB="57150" marR="76200" marL="7620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 Case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When order matters or when you need to store multiple values for an item.</a:t>
                      </a:r>
                      <a:endParaRPr/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When you need a unique key for each piece of data.</a:t>
                      </a:r>
                      <a:endParaRPr/>
                    </a:p>
                  </a:txBody>
                  <a:tcPr marT="19050" marB="57150" marR="76200" marL="7620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Example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fruits = [“apple”, “banana”, “cherry”]</a:t>
                      </a:r>
                      <a:endParaRPr/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person = {“name”: “John”, “age”: 30}</a:t>
                      </a:r>
                      <a:endParaRPr/>
                    </a:p>
                  </a:txBody>
                  <a:tcPr marT="19050" marB="57150" marR="76200" marL="7620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Performance</a:t>
                      </a:r>
                      <a:endParaRPr sz="1800">
                        <a:solidFill>
                          <a:srgbClr val="000000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Faster for ordered operations like sorting.</a:t>
                      </a:r>
                      <a:endParaRPr/>
                    </a:p>
                  </a:txBody>
                  <a:tcPr marT="19050" marB="57150" marR="76200" marL="762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Faster for lookup operations due to the hash mapping of keys.</a:t>
                      </a:r>
                      <a:endParaRPr/>
                    </a:p>
                  </a:txBody>
                  <a:tcPr marT="19050" marB="57150" marR="76200" marL="762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4"/>
          <p:cNvSpPr/>
          <p:nvPr/>
        </p:nvSpPr>
        <p:spPr>
          <a:xfrm>
            <a:off x="546846" y="714402"/>
            <a:ext cx="11044518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List  v/s  Tuple  v/s  Set  v/s  Dictionary: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16" name="Google Shape;816;p104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7" name="Google Shape;817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846" y="1281112"/>
            <a:ext cx="11044518" cy="57382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05"/>
          <p:cNvSpPr/>
          <p:nvPr/>
        </p:nvSpPr>
        <p:spPr>
          <a:xfrm>
            <a:off x="640975" y="1041023"/>
            <a:ext cx="11044518" cy="1892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Exercise:</a:t>
            </a:r>
            <a:endParaRPr/>
          </a:p>
          <a:p>
            <a:pPr indent="-3429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happens if you try to access a key that doesn’t exist in a dictionary?</a:t>
            </a:r>
            <a:endParaRPr/>
          </a:p>
          <a:p>
            <a:pPr indent="-4572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dictionaries in Python contain mutable objects as keys?</a:t>
            </a:r>
            <a:endParaRPr/>
          </a:p>
          <a:p>
            <a:pPr indent="-4572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difference between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dict.pop( )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dict.popitem( 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b="0" i="0" sz="2400" u="none" cap="none" strike="noStrike">
              <a:solidFill>
                <a:srgbClr val="6600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105"/>
          <p:cNvSpPr/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2021-09-04T04:57:37Z</dcterms:created>
  <dc:creator>Sharath</dc:creator>
</cp:coreProperties>
</file>